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5" r:id="rId1"/>
  </p:sldMasterIdLst>
  <p:notesMasterIdLst>
    <p:notesMasterId r:id="rId19"/>
  </p:notesMasterIdLst>
  <p:sldIdLst>
    <p:sldId id="2147483315" r:id="rId2"/>
    <p:sldId id="2147483249" r:id="rId3"/>
    <p:sldId id="2147483554" r:id="rId4"/>
    <p:sldId id="2147483548" r:id="rId5"/>
    <p:sldId id="2147483549" r:id="rId6"/>
    <p:sldId id="2147483538" r:id="rId7"/>
    <p:sldId id="2147483552" r:id="rId8"/>
    <p:sldId id="2147483540" r:id="rId9"/>
    <p:sldId id="2147483550" r:id="rId10"/>
    <p:sldId id="2147483555" r:id="rId11"/>
    <p:sldId id="2147483556" r:id="rId12"/>
    <p:sldId id="2147483539" r:id="rId13"/>
    <p:sldId id="2147483551" r:id="rId14"/>
    <p:sldId id="2147483557" r:id="rId15"/>
    <p:sldId id="2147483558" r:id="rId16"/>
    <p:sldId id="2147483553" r:id="rId17"/>
    <p:sldId id="214748354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82"/>
    <p:restoredTop sz="91588"/>
  </p:normalViewPr>
  <p:slideViewPr>
    <p:cSldViewPr snapToGrid="0">
      <p:cViewPr varScale="1">
        <p:scale>
          <a:sx n="135" d="100"/>
          <a:sy n="135" d="100"/>
        </p:scale>
        <p:origin x="12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88685D-6075-CA43-B64A-C726415A5DB5}" type="datetimeFigureOut">
              <a:rPr lang="en-US" smtClean="0"/>
              <a:t>10/7/25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0C2EC6-102B-4E42-A542-15A44AF669FC}" type="slidenum">
              <a:rPr lang="en-US" smtClean="0"/>
              <a:t>‹#›</a:t>
            </a:fld>
            <a:endParaRPr lang="en-US"/>
          </a:p>
        </p:txBody>
      </p:sp>
    </p:spTree>
    <p:extLst>
      <p:ext uri="{BB962C8B-B14F-4D97-AF65-F5344CB8AC3E}">
        <p14:creationId xmlns:p14="http://schemas.microsoft.com/office/powerpoint/2010/main" val="2781382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C2EC6-102B-4E42-A542-15A44AF669FC}" type="slidenum">
              <a:rPr lang="en-US" smtClean="0"/>
              <a:t>1</a:t>
            </a:fld>
            <a:endParaRPr lang="en-US"/>
          </a:p>
        </p:txBody>
      </p:sp>
    </p:spTree>
    <p:extLst>
      <p:ext uri="{BB962C8B-B14F-4D97-AF65-F5344CB8AC3E}">
        <p14:creationId xmlns:p14="http://schemas.microsoft.com/office/powerpoint/2010/main" val="534744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2</a:t>
            </a:fld>
            <a:endParaRPr lang="en-US"/>
          </a:p>
        </p:txBody>
      </p:sp>
    </p:spTree>
    <p:extLst>
      <p:ext uri="{BB962C8B-B14F-4D97-AF65-F5344CB8AC3E}">
        <p14:creationId xmlns:p14="http://schemas.microsoft.com/office/powerpoint/2010/main" val="161085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8E8E8"/>
                </a:solidFill>
                <a:effectLst/>
                <a:latin typeface="Google Sans"/>
              </a:rPr>
              <a:t>As proposed by Ralph Kimball, the bottom-up method </a:t>
            </a:r>
            <a:r>
              <a:rPr lang="en-US" b="0" i="0" dirty="0">
                <a:solidFill>
                  <a:srgbClr val="FFFFFF"/>
                </a:solidFill>
                <a:effectLst/>
                <a:latin typeface="Google Sans"/>
              </a:rPr>
              <a:t>calls for the creation of many data marts to satisfy the analytical needs of departments, followed by virtual integration of these data marts for consistency through an information bus</a:t>
            </a:r>
            <a:r>
              <a:rPr lang="en-US" b="0" i="0" dirty="0">
                <a:solidFill>
                  <a:srgbClr val="E8E8E8"/>
                </a:solidFill>
                <a:effectLst/>
                <a:latin typeface="Google Sans"/>
              </a:rPr>
              <a:t>.</a:t>
            </a:r>
          </a:p>
          <a:p>
            <a:endParaRPr lang="en-US" b="0" i="0" dirty="0">
              <a:solidFill>
                <a:srgbClr val="E8E8E8"/>
              </a:solidFill>
              <a:effectLst/>
              <a:latin typeface="Google Sans"/>
            </a:endParaRPr>
          </a:p>
          <a:p>
            <a:r>
              <a:rPr lang="en-US" b="0" i="0" dirty="0">
                <a:solidFill>
                  <a:srgbClr val="E8E8E8"/>
                </a:solidFill>
                <a:effectLst/>
                <a:latin typeface="Google Sans"/>
              </a:rPr>
              <a:t>In the perspective of Bill </a:t>
            </a:r>
            <a:r>
              <a:rPr lang="en-US" b="0" i="0" dirty="0" err="1">
                <a:solidFill>
                  <a:srgbClr val="E8E8E8"/>
                </a:solidFill>
                <a:effectLst/>
                <a:latin typeface="Google Sans"/>
              </a:rPr>
              <a:t>Inmon</a:t>
            </a:r>
            <a:r>
              <a:rPr lang="en-US" b="0" i="0" dirty="0">
                <a:solidFill>
                  <a:srgbClr val="E8E8E8"/>
                </a:solidFill>
                <a:effectLst/>
                <a:latin typeface="Google Sans"/>
              </a:rPr>
              <a:t>, the first step should be to create a consolidated enterprise-wide data warehouse. This can be made by </a:t>
            </a:r>
            <a:r>
              <a:rPr lang="en-US" b="0" i="0" dirty="0">
                <a:solidFill>
                  <a:srgbClr val="FFFFFF"/>
                </a:solidFill>
                <a:effectLst/>
                <a:latin typeface="Google Sans"/>
              </a:rPr>
              <a:t>connecting numerous databases to the analytical needs of departments</a:t>
            </a:r>
            <a:r>
              <a:rPr lang="en-US" b="0" i="0" dirty="0">
                <a:solidFill>
                  <a:srgbClr val="E8E8E8"/>
                </a:solidFill>
                <a:effectLst/>
                <a:latin typeface="Google Sans"/>
              </a:rPr>
              <a:t>, which are later referred to as data marts. As a result, this method is known as the top-down approach.</a:t>
            </a:r>
          </a:p>
          <a:p>
            <a:endParaRPr lang="en-US" b="0" i="0" dirty="0">
              <a:solidFill>
                <a:srgbClr val="E8E8E8"/>
              </a:solidFill>
              <a:effectLst/>
              <a:latin typeface="Google Sans"/>
            </a:endParaRPr>
          </a:p>
          <a:p>
            <a:pPr algn="l">
              <a:lnSpc>
                <a:spcPts val="2400"/>
              </a:lnSpc>
              <a:buFont typeface="+mj-lt"/>
              <a:buAutoNum type="arabicPeriod"/>
            </a:pPr>
            <a:r>
              <a:rPr lang="en-US" b="1" i="0" dirty="0">
                <a:solidFill>
                  <a:srgbClr val="242424"/>
                </a:solidFill>
                <a:effectLst/>
                <a:latin typeface="source-serif-pro"/>
              </a:rPr>
              <a:t>Hubs:</a:t>
            </a:r>
            <a:r>
              <a:rPr lang="en-US" b="0" i="0" dirty="0">
                <a:solidFill>
                  <a:srgbClr val="242424"/>
                </a:solidFill>
                <a:effectLst/>
                <a:latin typeface="source-serif-pro"/>
              </a:rPr>
              <a:t> hubs are entities of interest to the business. They contain just a distinct list of business keys and metadata about when each key was first loaded and from where.</a:t>
            </a:r>
          </a:p>
          <a:p>
            <a:pPr algn="l">
              <a:lnSpc>
                <a:spcPts val="2400"/>
              </a:lnSpc>
              <a:buFont typeface="+mj-lt"/>
              <a:buAutoNum type="arabicPeriod"/>
            </a:pPr>
            <a:r>
              <a:rPr lang="en-US" b="1" i="0" dirty="0">
                <a:solidFill>
                  <a:srgbClr val="242424"/>
                </a:solidFill>
                <a:effectLst/>
                <a:latin typeface="source-serif-pro"/>
              </a:rPr>
              <a:t>Links: </a:t>
            </a:r>
            <a:r>
              <a:rPr lang="en-US" b="0" i="0" dirty="0">
                <a:solidFill>
                  <a:srgbClr val="242424"/>
                </a:solidFill>
                <a:effectLst/>
                <a:latin typeface="source-serif-pro"/>
              </a:rPr>
              <a:t>links connect Hubs and may record a transaction, composition, or other type of relationship between hubs.</a:t>
            </a:r>
          </a:p>
          <a:p>
            <a:pPr algn="l">
              <a:lnSpc>
                <a:spcPts val="2400"/>
              </a:lnSpc>
              <a:buFont typeface="+mj-lt"/>
              <a:buAutoNum type="arabicPeriod"/>
            </a:pPr>
            <a:r>
              <a:rPr lang="en-US" b="1" i="0" dirty="0">
                <a:solidFill>
                  <a:srgbClr val="242424"/>
                </a:solidFill>
                <a:effectLst/>
                <a:latin typeface="source-serif-pro"/>
              </a:rPr>
              <a:t>Satellites: </a:t>
            </a:r>
            <a:r>
              <a:rPr lang="en-US" b="0" i="0" dirty="0">
                <a:solidFill>
                  <a:srgbClr val="242424"/>
                </a:solidFill>
                <a:effectLst/>
                <a:latin typeface="source-serif-pro"/>
              </a:rPr>
              <a:t>satellites connect to hubs or links and store metadata about when the data were loaded and from where. They great for versioning and doing historical analysis.</a:t>
            </a:r>
          </a:p>
          <a:p>
            <a:endParaRPr lang="en-US" dirty="0"/>
          </a:p>
          <a:p>
            <a:pPr algn="l">
              <a:lnSpc>
                <a:spcPts val="2400"/>
              </a:lnSpc>
            </a:pPr>
            <a:r>
              <a:rPr lang="en-US" b="0" i="0" dirty="0">
                <a:solidFill>
                  <a:srgbClr val="242424"/>
                </a:solidFill>
                <a:effectLst/>
                <a:latin typeface="source-serif-pro"/>
              </a:rPr>
              <a:t>Use </a:t>
            </a:r>
            <a:r>
              <a:rPr lang="en-US" b="1" i="0" dirty="0" err="1">
                <a:solidFill>
                  <a:srgbClr val="242424"/>
                </a:solidFill>
                <a:effectLst/>
                <a:latin typeface="source-serif-pro"/>
              </a:rPr>
              <a:t>Inmon</a:t>
            </a:r>
            <a:r>
              <a:rPr lang="en-US" b="0" i="0" dirty="0">
                <a:solidFill>
                  <a:srgbClr val="242424"/>
                </a:solidFill>
                <a:effectLst/>
                <a:latin typeface="source-serif-pro"/>
              </a:rPr>
              <a:t> if…</a:t>
            </a:r>
          </a:p>
          <a:p>
            <a:pPr algn="l">
              <a:lnSpc>
                <a:spcPts val="2400"/>
              </a:lnSpc>
              <a:buFont typeface="Arial" panose="020B0604020202020204" pitchFamily="34" charset="0"/>
              <a:buChar char="•"/>
            </a:pPr>
            <a:r>
              <a:rPr lang="en-US" b="0" i="0" dirty="0">
                <a:solidFill>
                  <a:srgbClr val="242424"/>
                </a:solidFill>
                <a:effectLst/>
                <a:latin typeface="source-serif-pro"/>
              </a:rPr>
              <a:t>Data accuracy is the most important characteristic of your warehouse</a:t>
            </a:r>
          </a:p>
          <a:p>
            <a:pPr algn="l">
              <a:lnSpc>
                <a:spcPts val="2400"/>
              </a:lnSpc>
              <a:buFont typeface="Arial" panose="020B0604020202020204" pitchFamily="34" charset="0"/>
              <a:buChar char="•"/>
            </a:pPr>
            <a:r>
              <a:rPr lang="en-US" b="0" i="0" dirty="0">
                <a:solidFill>
                  <a:srgbClr val="242424"/>
                </a:solidFill>
                <a:effectLst/>
                <a:latin typeface="source-serif-pro"/>
              </a:rPr>
              <a:t>You have time/resources to do a lot of upfront work</a:t>
            </a:r>
          </a:p>
          <a:p>
            <a:pPr algn="l">
              <a:lnSpc>
                <a:spcPts val="2400"/>
              </a:lnSpc>
            </a:pPr>
            <a:r>
              <a:rPr lang="en-US" b="0" i="0" dirty="0">
                <a:solidFill>
                  <a:srgbClr val="242424"/>
                </a:solidFill>
                <a:effectLst/>
                <a:latin typeface="source-serif-pro"/>
              </a:rPr>
              <a:t>Use </a:t>
            </a:r>
            <a:r>
              <a:rPr lang="en-US" b="1" i="0" dirty="0">
                <a:solidFill>
                  <a:srgbClr val="242424"/>
                </a:solidFill>
                <a:effectLst/>
                <a:latin typeface="source-serif-pro"/>
              </a:rPr>
              <a:t>Kimball</a:t>
            </a:r>
            <a:r>
              <a:rPr lang="en-US" b="0" i="0" dirty="0">
                <a:solidFill>
                  <a:srgbClr val="242424"/>
                </a:solidFill>
                <a:effectLst/>
                <a:latin typeface="source-serif-pro"/>
              </a:rPr>
              <a:t> if…</a:t>
            </a:r>
          </a:p>
          <a:p>
            <a:pPr algn="l">
              <a:lnSpc>
                <a:spcPts val="2400"/>
              </a:lnSpc>
              <a:buFont typeface="Arial" panose="020B0604020202020204" pitchFamily="34" charset="0"/>
              <a:buChar char="•"/>
            </a:pPr>
            <a:r>
              <a:rPr lang="en-US" b="0" i="0" dirty="0">
                <a:solidFill>
                  <a:srgbClr val="242424"/>
                </a:solidFill>
                <a:effectLst/>
                <a:latin typeface="source-serif-pro"/>
              </a:rPr>
              <a:t>If you business requirements are well-defined and stable</a:t>
            </a:r>
          </a:p>
          <a:p>
            <a:pPr algn="l">
              <a:lnSpc>
                <a:spcPts val="2400"/>
              </a:lnSpc>
              <a:buFont typeface="Arial" panose="020B0604020202020204" pitchFamily="34" charset="0"/>
              <a:buChar char="•"/>
            </a:pPr>
            <a:r>
              <a:rPr lang="en-US" b="0" i="0" dirty="0">
                <a:solidFill>
                  <a:srgbClr val="242424"/>
                </a:solidFill>
                <a:effectLst/>
                <a:latin typeface="source-serif-pro"/>
              </a:rPr>
              <a:t>You are querying lots of data often</a:t>
            </a:r>
          </a:p>
          <a:p>
            <a:pPr algn="l">
              <a:lnSpc>
                <a:spcPts val="2400"/>
              </a:lnSpc>
            </a:pPr>
            <a:r>
              <a:rPr lang="en-US" b="0" i="0" dirty="0">
                <a:solidFill>
                  <a:srgbClr val="242424"/>
                </a:solidFill>
                <a:effectLst/>
                <a:latin typeface="source-serif-pro"/>
              </a:rPr>
              <a:t>Use a </a:t>
            </a:r>
            <a:r>
              <a:rPr lang="en-US" b="1" i="0" dirty="0">
                <a:solidFill>
                  <a:srgbClr val="242424"/>
                </a:solidFill>
                <a:effectLst/>
                <a:latin typeface="source-serif-pro"/>
              </a:rPr>
              <a:t>Data Vault</a:t>
            </a:r>
            <a:r>
              <a:rPr lang="en-US" b="0" i="0" dirty="0">
                <a:solidFill>
                  <a:srgbClr val="242424"/>
                </a:solidFill>
                <a:effectLst/>
                <a:latin typeface="source-serif-pro"/>
              </a:rPr>
              <a:t> if…</a:t>
            </a:r>
          </a:p>
          <a:p>
            <a:pPr algn="l">
              <a:lnSpc>
                <a:spcPts val="2400"/>
              </a:lnSpc>
              <a:buFont typeface="Arial" panose="020B0604020202020204" pitchFamily="34" charset="0"/>
              <a:buChar char="•"/>
            </a:pPr>
            <a:r>
              <a:rPr lang="en-US" b="0" i="0" dirty="0">
                <a:solidFill>
                  <a:srgbClr val="242424"/>
                </a:solidFill>
                <a:effectLst/>
                <a:latin typeface="source-serif-pro"/>
              </a:rPr>
              <a:t>Your business goals change often</a:t>
            </a:r>
          </a:p>
          <a:p>
            <a:pPr algn="l">
              <a:lnSpc>
                <a:spcPts val="2400"/>
              </a:lnSpc>
              <a:buFont typeface="Arial" panose="020B0604020202020204" pitchFamily="34" charset="0"/>
              <a:buChar char="•"/>
            </a:pPr>
            <a:r>
              <a:rPr lang="en-US" b="0" i="0" dirty="0">
                <a:solidFill>
                  <a:srgbClr val="242424"/>
                </a:solidFill>
                <a:effectLst/>
                <a:latin typeface="source-serif-pro"/>
              </a:rPr>
              <a:t>You need version-control inherently built into your infrastructure</a:t>
            </a:r>
          </a:p>
          <a:p>
            <a:pPr algn="l">
              <a:lnSpc>
                <a:spcPts val="2400"/>
              </a:lnSpc>
              <a:buFont typeface="Arial" panose="020B0604020202020204" pitchFamily="34" charset="0"/>
              <a:buChar char="•"/>
            </a:pP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Difference between star schema and data vault:</a:t>
            </a:r>
          </a:p>
          <a:p>
            <a:pPr algn="l" fontAlgn="ctr">
              <a:spcBef>
                <a:spcPts val="1500"/>
              </a:spcBef>
              <a:spcAft>
                <a:spcPts val="750"/>
              </a:spcAft>
            </a:pPr>
            <a:r>
              <a:rPr lang="en-US" b="0" i="0" dirty="0">
                <a:solidFill>
                  <a:srgbClr val="EEF0FF"/>
                </a:solidFill>
                <a:effectLst/>
                <a:latin typeface="Google Sans"/>
              </a:rPr>
              <a:t>Data vault architecture </a:t>
            </a:r>
          </a:p>
          <a:p>
            <a:pPr algn="l" fontAlgn="ctr">
              <a:spcBef>
                <a:spcPts val="750"/>
              </a:spcBef>
              <a:spcAft>
                <a:spcPts val="1500"/>
              </a:spcAft>
            </a:pPr>
            <a:r>
              <a:rPr lang="en-US" b="0" i="0" dirty="0">
                <a:solidFill>
                  <a:srgbClr val="EEF0FF"/>
                </a:solidFill>
                <a:effectLst/>
                <a:latin typeface="Google Sans"/>
              </a:rPr>
              <a:t>Data vault uses a modular approach to data warehousing. It's designed to be flexible and scalable, and to integrate data from multiple sources. Data vault is meant to be complementary to star schema, acting as an intermediary between staging and reporting layers. </a:t>
            </a:r>
          </a:p>
          <a:p>
            <a:pPr algn="l" fontAlgn="ctr">
              <a:spcBef>
                <a:spcPts val="1500"/>
              </a:spcBef>
              <a:spcAft>
                <a:spcPts val="750"/>
              </a:spcAft>
            </a:pPr>
            <a:r>
              <a:rPr lang="en-US" b="0" i="0" dirty="0">
                <a:solidFill>
                  <a:srgbClr val="EEF0FF"/>
                </a:solidFill>
                <a:effectLst/>
                <a:latin typeface="Google Sans"/>
              </a:rPr>
              <a:t>Star schema architecture </a:t>
            </a:r>
          </a:p>
          <a:p>
            <a:pPr algn="l">
              <a:spcBef>
                <a:spcPts val="750"/>
              </a:spcBef>
              <a:spcAft>
                <a:spcPts val="1500"/>
              </a:spcAft>
            </a:pPr>
            <a:r>
              <a:rPr lang="en-US" b="0" i="0" dirty="0">
                <a:solidFill>
                  <a:srgbClr val="EEF0FF"/>
                </a:solidFill>
                <a:effectLst/>
                <a:latin typeface="Google Sans"/>
              </a:rPr>
              <a:t>Star schema is a dimensional model that organizes data into a structure that improves analytical query performance. It's often used in the presentation layer, where refined data is ready for business intelligence. </a:t>
            </a:r>
          </a:p>
          <a:p>
            <a:pPr algn="l">
              <a:lnSpc>
                <a:spcPts val="2400"/>
              </a:lnSpc>
              <a:buFont typeface="Arial" panose="020B0604020202020204" pitchFamily="34" charset="0"/>
              <a:buChar char="•"/>
            </a:pPr>
            <a:endParaRPr lang="en-US" b="0" i="0" dirty="0">
              <a:solidFill>
                <a:srgbClr val="242424"/>
              </a:solidFill>
              <a:effectLst/>
              <a:latin typeface="source-serif-pro"/>
            </a:endParaRPr>
          </a:p>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4</a:t>
            </a:fld>
            <a:endParaRPr lang="en-US"/>
          </a:p>
        </p:txBody>
      </p:sp>
    </p:spTree>
    <p:extLst>
      <p:ext uri="{BB962C8B-B14F-4D97-AF65-F5344CB8AC3E}">
        <p14:creationId xmlns:p14="http://schemas.microsoft.com/office/powerpoint/2010/main" val="3542518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6</a:t>
            </a:fld>
            <a:endParaRPr lang="en-US"/>
          </a:p>
        </p:txBody>
      </p:sp>
    </p:spTree>
    <p:extLst>
      <p:ext uri="{BB962C8B-B14F-4D97-AF65-F5344CB8AC3E}">
        <p14:creationId xmlns:p14="http://schemas.microsoft.com/office/powerpoint/2010/main" val="2810127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BB79AF-D22A-4E5D-9392-72114F6AB7F4}" type="slidenum">
              <a:rPr lang="en-US" smtClean="0"/>
              <a:t>8</a:t>
            </a:fld>
            <a:endParaRPr lang="en-US"/>
          </a:p>
        </p:txBody>
      </p:sp>
    </p:spTree>
    <p:extLst>
      <p:ext uri="{BB962C8B-B14F-4D97-AF65-F5344CB8AC3E}">
        <p14:creationId xmlns:p14="http://schemas.microsoft.com/office/powerpoint/2010/main" val="1781099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BB79AF-D22A-4E5D-9392-72114F6AB7F4}" type="slidenum">
              <a:rPr lang="en-US" smtClean="0"/>
              <a:t>12</a:t>
            </a:fld>
            <a:endParaRPr lang="en-US"/>
          </a:p>
        </p:txBody>
      </p:sp>
    </p:spTree>
    <p:extLst>
      <p:ext uri="{BB962C8B-B14F-4D97-AF65-F5344CB8AC3E}">
        <p14:creationId xmlns:p14="http://schemas.microsoft.com/office/powerpoint/2010/main" val="28171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17</a:t>
            </a:fld>
            <a:endParaRPr lang="en-US"/>
          </a:p>
        </p:txBody>
      </p:sp>
    </p:spTree>
    <p:extLst>
      <p:ext uri="{BB962C8B-B14F-4D97-AF65-F5344CB8AC3E}">
        <p14:creationId xmlns:p14="http://schemas.microsoft.com/office/powerpoint/2010/main" val="1555895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3AE7A913-DFE7-4542-8B21-30AA4F7D5732}" type="datetimeFigureOut">
              <a:rPr lang="en-US" smtClean="0"/>
              <a:t>10/7/25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163611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E7A913-DFE7-4542-8B21-30AA4F7D5732}"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1702702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3AE7A913-DFE7-4542-8B21-30AA4F7D5732}" type="datetimeFigureOut">
              <a:rPr lang="en-US" smtClean="0"/>
              <a:t>10/7/25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2752198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3AE7A913-DFE7-4542-8B21-30AA4F7D5732}" type="datetimeFigureOut">
              <a:rPr lang="en-US" smtClean="0"/>
              <a:t>10/7/25</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3940496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3AE7A913-DFE7-4542-8B21-30AA4F7D5732}" type="datetimeFigureOut">
              <a:rPr lang="en-US" smtClean="0"/>
              <a:t>10/7/25</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202671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E7A913-DFE7-4542-8B21-30AA4F7D5732}" type="datetimeFigureOut">
              <a:rPr lang="en-US" smtClean="0"/>
              <a:t>10/7/25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69724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3AE7A913-DFE7-4542-8B21-30AA4F7D5732}" type="datetimeFigureOut">
              <a:rPr lang="en-US" smtClean="0"/>
              <a:t>10/7/25</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3709091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E7A913-DFE7-4542-8B21-30AA4F7D5732}"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2239513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3AE7A913-DFE7-4542-8B21-30AA4F7D5732}" type="datetimeFigureOut">
              <a:rPr lang="en-US" smtClean="0"/>
              <a:t>10/7/25</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749522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E7A913-DFE7-4542-8B21-30AA4F7D5732}"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2602433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3AE7A913-DFE7-4542-8B21-30AA4F7D5732}" type="datetimeFigureOut">
              <a:rPr lang="en-US" smtClean="0"/>
              <a:t>10/7/25</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AE7BDDF-1909-4147-AAC4-0A8A8923A656}" type="slidenum">
              <a:rPr lang="en-US" smtClean="0"/>
              <a:t>‹#›</a:t>
            </a:fld>
            <a:endParaRPr lang="en-US"/>
          </a:p>
        </p:txBody>
      </p:sp>
    </p:spTree>
    <p:extLst>
      <p:ext uri="{BB962C8B-B14F-4D97-AF65-F5344CB8AC3E}">
        <p14:creationId xmlns:p14="http://schemas.microsoft.com/office/powerpoint/2010/main" val="1395149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hre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7324"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10/7/25</a:t>
            </a:fld>
            <a:endParaRPr lang="en-US"/>
          </a:p>
        </p:txBody>
      </p:sp>
    </p:spTree>
    <p:extLst>
      <p:ext uri="{BB962C8B-B14F-4D97-AF65-F5344CB8AC3E}">
        <p14:creationId xmlns:p14="http://schemas.microsoft.com/office/powerpoint/2010/main" val="66680235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3AE7A913-DFE7-4542-8B21-30AA4F7D5732}" type="datetimeFigureOut">
              <a:rPr lang="en-US" smtClean="0"/>
              <a:t>10/7/25</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BAE7BDDF-1909-4147-AAC4-0A8A8923A656}" type="slidenum">
              <a:rPr lang="en-US" smtClean="0"/>
              <a:t>‹#›</a:t>
            </a:fld>
            <a:endParaRPr lang="en-US"/>
          </a:p>
        </p:txBody>
      </p:sp>
    </p:spTree>
    <p:extLst>
      <p:ext uri="{BB962C8B-B14F-4D97-AF65-F5344CB8AC3E}">
        <p14:creationId xmlns:p14="http://schemas.microsoft.com/office/powerpoint/2010/main" val="27392760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hyperlink" Target="https://www.kimballgroup.com/data-warehouse-business-intelligence-resources/books/data-warehouse-dw-toolk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904BE49-D42F-4F46-B6D8-2F3171216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57C06C8-18BE-4336-B9E0-3E15ACC93B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7" name="Freeform 5">
              <a:extLst>
                <a:ext uri="{FF2B5EF4-FFF2-40B4-BE49-F238E27FC236}">
                  <a16:creationId xmlns:a16="http://schemas.microsoft.com/office/drawing/2014/main" id="{C1C39E9B-4917-47D7-B9CB-56480F8876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5F7200AE-DDFE-46D2-ABCA-99906B970E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CAC40760-2393-4FAE-9A58-F4CDC06716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Freeform 8">
              <a:extLst>
                <a:ext uri="{FF2B5EF4-FFF2-40B4-BE49-F238E27FC236}">
                  <a16:creationId xmlns:a16="http://schemas.microsoft.com/office/drawing/2014/main" id="{1080422B-1649-4C8E-9459-4214243609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9">
              <a:extLst>
                <a:ext uri="{FF2B5EF4-FFF2-40B4-BE49-F238E27FC236}">
                  <a16:creationId xmlns:a16="http://schemas.microsoft.com/office/drawing/2014/main" id="{0136A7BD-0DB3-401B-A6AB-38BD30D100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10">
              <a:extLst>
                <a:ext uri="{FF2B5EF4-FFF2-40B4-BE49-F238E27FC236}">
                  <a16:creationId xmlns:a16="http://schemas.microsoft.com/office/drawing/2014/main" id="{FD037346-242B-41AF-8CF5-C35284CA24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Freeform 11">
              <a:extLst>
                <a:ext uri="{FF2B5EF4-FFF2-40B4-BE49-F238E27FC236}">
                  <a16:creationId xmlns:a16="http://schemas.microsoft.com/office/drawing/2014/main" id="{238EBF94-0BBF-4BAE-AE27-729E3AC135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Freeform 12">
              <a:extLst>
                <a:ext uri="{FF2B5EF4-FFF2-40B4-BE49-F238E27FC236}">
                  <a16:creationId xmlns:a16="http://schemas.microsoft.com/office/drawing/2014/main" id="{3940EFD7-EB1A-47AF-9DC9-7D4FCC6011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Freeform 13">
              <a:extLst>
                <a:ext uri="{FF2B5EF4-FFF2-40B4-BE49-F238E27FC236}">
                  <a16:creationId xmlns:a16="http://schemas.microsoft.com/office/drawing/2014/main" id="{6BAA7A10-98A8-4931-9BE2-B573EB3767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14">
              <a:extLst>
                <a:ext uri="{FF2B5EF4-FFF2-40B4-BE49-F238E27FC236}">
                  <a16:creationId xmlns:a16="http://schemas.microsoft.com/office/drawing/2014/main" id="{420223F5-34A9-4388-AF7B-38C76242FC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15">
              <a:extLst>
                <a:ext uri="{FF2B5EF4-FFF2-40B4-BE49-F238E27FC236}">
                  <a16:creationId xmlns:a16="http://schemas.microsoft.com/office/drawing/2014/main" id="{3CC9C746-C646-4363-B3D3-349B5C18C3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16">
              <a:extLst>
                <a:ext uri="{FF2B5EF4-FFF2-40B4-BE49-F238E27FC236}">
                  <a16:creationId xmlns:a16="http://schemas.microsoft.com/office/drawing/2014/main" id="{3EAA5BC5-AB13-4C8E-9D9D-05DE777C5F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Freeform 17">
              <a:extLst>
                <a:ext uri="{FF2B5EF4-FFF2-40B4-BE49-F238E27FC236}">
                  <a16:creationId xmlns:a16="http://schemas.microsoft.com/office/drawing/2014/main" id="{500FC397-0569-4EC4-926A-DDD62AC495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18">
              <a:extLst>
                <a:ext uri="{FF2B5EF4-FFF2-40B4-BE49-F238E27FC236}">
                  <a16:creationId xmlns:a16="http://schemas.microsoft.com/office/drawing/2014/main" id="{284FF041-FE7D-47CD-830F-7FABF41C7C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Freeform 19">
              <a:extLst>
                <a:ext uri="{FF2B5EF4-FFF2-40B4-BE49-F238E27FC236}">
                  <a16:creationId xmlns:a16="http://schemas.microsoft.com/office/drawing/2014/main" id="{224154F3-CDFE-4FFF-92E4-ECEACF4A66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20">
              <a:extLst>
                <a:ext uri="{FF2B5EF4-FFF2-40B4-BE49-F238E27FC236}">
                  <a16:creationId xmlns:a16="http://schemas.microsoft.com/office/drawing/2014/main" id="{CCE7404D-AA5A-4B82-A875-07F35D7C2D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21">
              <a:extLst>
                <a:ext uri="{FF2B5EF4-FFF2-40B4-BE49-F238E27FC236}">
                  <a16:creationId xmlns:a16="http://schemas.microsoft.com/office/drawing/2014/main" id="{526B6FED-4F20-4070-95B4-FF6F439E1C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22">
              <a:extLst>
                <a:ext uri="{FF2B5EF4-FFF2-40B4-BE49-F238E27FC236}">
                  <a16:creationId xmlns:a16="http://schemas.microsoft.com/office/drawing/2014/main" id="{3A75958D-1716-4B5A-A745-AFA4962FA4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23">
              <a:extLst>
                <a:ext uri="{FF2B5EF4-FFF2-40B4-BE49-F238E27FC236}">
                  <a16:creationId xmlns:a16="http://schemas.microsoft.com/office/drawing/2014/main" id="{531A2051-17DE-4E9D-9EA6-026B97B1A9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33" name="Rectangle 32">
            <a:extLst>
              <a:ext uri="{FF2B5EF4-FFF2-40B4-BE49-F238E27FC236}">
                <a16:creationId xmlns:a16="http://schemas.microsoft.com/office/drawing/2014/main" id="{CE0642A0-80D3-4F37-8249-A07E6F382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0" y="-6706"/>
            <a:ext cx="12194680" cy="4127711"/>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FA760135-24A9-40C9-B45F-2EB5B6420E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206292"/>
            <a:ext cx="12192755" cy="1771275"/>
            <a:chOff x="1" y="3893141"/>
            <a:chExt cx="12192755" cy="1771275"/>
          </a:xfrm>
        </p:grpSpPr>
        <p:sp>
          <p:nvSpPr>
            <p:cNvPr id="36" name="Isosceles Triangle 39">
              <a:extLst>
                <a:ext uri="{FF2B5EF4-FFF2-40B4-BE49-F238E27FC236}">
                  <a16:creationId xmlns:a16="http://schemas.microsoft.com/office/drawing/2014/main" id="{20E3CEE0-0CB3-421F-99FC-4585E62437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346BB80-2556-4779-9642-5706CAA33C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3893141"/>
              <a:ext cx="12192755" cy="1420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86EE037C-0F40-CB1D-0230-2F24D8149FFA}"/>
              </a:ext>
            </a:extLst>
          </p:cNvPr>
          <p:cNvSpPr>
            <a:spLocks noGrp="1"/>
          </p:cNvSpPr>
          <p:nvPr>
            <p:ph type="ctrTitle"/>
          </p:nvPr>
        </p:nvSpPr>
        <p:spPr>
          <a:xfrm>
            <a:off x="1683982" y="4641282"/>
            <a:ext cx="8833655" cy="727748"/>
          </a:xfrm>
        </p:spPr>
        <p:txBody>
          <a:bodyPr vert="horz" lIns="228600" tIns="228600" rIns="228600" bIns="0" rtlCol="0" anchor="b">
            <a:normAutofit/>
          </a:bodyPr>
          <a:lstStyle/>
          <a:p>
            <a:r>
              <a:rPr lang="en-US" sz="3700" dirty="0"/>
              <a:t>Star Schemas</a:t>
            </a:r>
          </a:p>
        </p:txBody>
      </p:sp>
      <p:sp>
        <p:nvSpPr>
          <p:cNvPr id="3" name="TextBox 2">
            <a:extLst>
              <a:ext uri="{FF2B5EF4-FFF2-40B4-BE49-F238E27FC236}">
                <a16:creationId xmlns:a16="http://schemas.microsoft.com/office/drawing/2014/main" id="{602C0EE2-C2B0-1AC2-FDA1-FDBD527C71F7}"/>
              </a:ext>
            </a:extLst>
          </p:cNvPr>
          <p:cNvSpPr txBox="1"/>
          <p:nvPr/>
        </p:nvSpPr>
        <p:spPr>
          <a:xfrm>
            <a:off x="1683983" y="4334407"/>
            <a:ext cx="8833654" cy="522636"/>
          </a:xfrm>
          <a:prstGeom prst="rect">
            <a:avLst/>
          </a:prstGeom>
        </p:spPr>
        <p:txBody>
          <a:bodyPr vert="horz" lIns="91440" tIns="0" rIns="91440" bIns="45720" rtlCol="0">
            <a:normAutofit/>
          </a:bodyPr>
          <a:lstStyle/>
          <a:p>
            <a:pPr algn="ctr" defTabSz="914400">
              <a:spcBef>
                <a:spcPts val="1000"/>
              </a:spcBef>
              <a:buClr>
                <a:schemeClr val="accent1"/>
              </a:buClr>
              <a:buSzPct val="110000"/>
            </a:pPr>
            <a:r>
              <a:rPr lang="en-US" sz="2400" dirty="0">
                <a:solidFill>
                  <a:srgbClr val="FFFEFF"/>
                </a:solidFill>
                <a:latin typeface="Calibri" panose="020F0502020204030204" pitchFamily="34" charset="0"/>
                <a:cs typeface="Calibri" panose="020F0502020204030204" pitchFamily="34" charset="0"/>
              </a:rPr>
              <a:t>An Introduction to</a:t>
            </a:r>
          </a:p>
        </p:txBody>
      </p:sp>
      <p:pic>
        <p:nvPicPr>
          <p:cNvPr id="3074" name="Picture 2" descr="Gold Glitter Stars Background Sparkle Lights Stock Vector (Royalty Free)  1189541869 | Shutterstock">
            <a:extLst>
              <a:ext uri="{FF2B5EF4-FFF2-40B4-BE49-F238E27FC236}">
                <a16:creationId xmlns:a16="http://schemas.microsoft.com/office/drawing/2014/main" id="{FA710430-BE49-524F-E6FC-0F0CC910BE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6144"/>
          <a:stretch>
            <a:fillRect/>
          </a:stretch>
        </p:blipFill>
        <p:spPr bwMode="auto">
          <a:xfrm>
            <a:off x="-25406" y="-20708"/>
            <a:ext cx="12231917" cy="420581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65,216 Gold Glitter Star Stock Photos - Free &amp; Royalty-Free Stock Photos  from Dreamstime">
            <a:extLst>
              <a:ext uri="{FF2B5EF4-FFF2-40B4-BE49-F238E27FC236}">
                <a16:creationId xmlns:a16="http://schemas.microsoft.com/office/drawing/2014/main" id="{ADF0F012-8DD2-93DB-305C-E9B3E10F15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448" t="10890" r="9155" b="9485"/>
          <a:stretch>
            <a:fillRect/>
          </a:stretch>
        </p:blipFill>
        <p:spPr bwMode="auto">
          <a:xfrm>
            <a:off x="4636680" y="1316492"/>
            <a:ext cx="2928257" cy="2864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285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429E-D3CB-E8D9-8B23-8FA1F3E49CCA}"/>
              </a:ext>
            </a:extLst>
          </p:cNvPr>
          <p:cNvSpPr>
            <a:spLocks noGrp="1"/>
          </p:cNvSpPr>
          <p:nvPr>
            <p:ph type="title"/>
          </p:nvPr>
        </p:nvSpPr>
        <p:spPr>
          <a:xfrm>
            <a:off x="609600" y="355783"/>
            <a:ext cx="10972800" cy="946389"/>
          </a:xfrm>
        </p:spPr>
        <p:txBody>
          <a:bodyPr>
            <a:normAutofit fontScale="90000"/>
          </a:bodyPr>
          <a:lstStyle/>
          <a:p>
            <a:r>
              <a:rPr lang="en-US" dirty="0">
                <a:latin typeface="Calibri" panose="020F0502020204030204" pitchFamily="34" charset="0"/>
                <a:cs typeface="Calibri" panose="020F0502020204030204" pitchFamily="34" charset="0"/>
              </a:rPr>
              <a:t>Background: OLTP vs OLAP</a:t>
            </a:r>
          </a:p>
        </p:txBody>
      </p:sp>
      <p:sp>
        <p:nvSpPr>
          <p:cNvPr id="43" name="Content Placeholder 42">
            <a:extLst>
              <a:ext uri="{FF2B5EF4-FFF2-40B4-BE49-F238E27FC236}">
                <a16:creationId xmlns:a16="http://schemas.microsoft.com/office/drawing/2014/main" id="{D6AF037E-F83F-9F6C-C1D9-C7D5C029C4B4}"/>
              </a:ext>
            </a:extLst>
          </p:cNvPr>
          <p:cNvSpPr>
            <a:spLocks noGrp="1"/>
          </p:cNvSpPr>
          <p:nvPr>
            <p:ph idx="1"/>
          </p:nvPr>
        </p:nvSpPr>
        <p:spPr>
          <a:xfrm>
            <a:off x="609600" y="1368287"/>
            <a:ext cx="4674965" cy="3477039"/>
          </a:xfrm>
        </p:spPr>
        <p:txBody>
          <a:bodyPr/>
          <a:lstStyle/>
          <a:p>
            <a:pPr marL="0" marR="0" lvl="0" indent="0" algn="l" defTabSz="914400" rtl="0" eaLnBrk="1" fontAlgn="auto" latinLnBrk="0" hangingPunct="1">
              <a:lnSpc>
                <a:spcPct val="110000"/>
              </a:lnSpc>
              <a:spcBef>
                <a:spcPts val="1200"/>
              </a:spcBef>
              <a:spcAft>
                <a:spcPts val="0"/>
              </a:spcAft>
              <a:buClrTx/>
              <a:buSzPct val="70000"/>
              <a:buFont typeface="Wingdings" panose="05000000000000000000" pitchFamily="2" charset="2"/>
              <a:buNone/>
              <a:tabLst/>
              <a:defRPr/>
            </a:pP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OLTP = Online Transaction Processing</a:t>
            </a:r>
            <a:endPar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a:defRPr/>
            </a:pPr>
            <a:r>
              <a:rPr lang="en-US" b="0" i="0" dirty="0">
                <a:effectLst/>
                <a:latin typeface="Calibri" panose="020F0502020204030204" pitchFamily="34" charset="0"/>
                <a:cs typeface="Calibri" panose="020F0502020204030204" pitchFamily="34" charset="0"/>
              </a:rPr>
              <a:t>Optimized for transactional processing and real-time updates</a:t>
            </a:r>
          </a:p>
          <a:p>
            <a:pPr>
              <a:defRPr/>
            </a:pPr>
            <a:r>
              <a:rPr lang="en-US" dirty="0">
                <a:latin typeface="Calibri" panose="020F0502020204030204" pitchFamily="34" charset="0"/>
                <a:cs typeface="Calibri" panose="020F0502020204030204" pitchFamily="34" charset="0"/>
              </a:rPr>
              <a:t>U</a:t>
            </a:r>
            <a:r>
              <a:rPr lang="en-US" b="0" i="0" dirty="0">
                <a:effectLst/>
                <a:latin typeface="Calibri" panose="020F0502020204030204" pitchFamily="34" charset="0"/>
                <a:cs typeface="Calibri" panose="020F0502020204030204" pitchFamily="34" charset="0"/>
              </a:rPr>
              <a:t>sed to manage day-to-day business operations involving individual transactions</a:t>
            </a:r>
          </a:p>
          <a:p>
            <a:pPr>
              <a:defRPr/>
            </a:pPr>
            <a:r>
              <a:rPr lang="en-US" dirty="0">
                <a:latin typeface="Calibri" panose="020F0502020204030204" pitchFamily="34" charset="0"/>
                <a:cs typeface="Calibri" panose="020F0502020204030204" pitchFamily="34" charset="0"/>
              </a:rPr>
              <a:t>U</a:t>
            </a:r>
            <a:r>
              <a:rPr lang="en-US" b="0" i="0" dirty="0">
                <a:effectLst/>
                <a:latin typeface="Calibri" panose="020F0502020204030204" pitchFamily="34" charset="0"/>
                <a:cs typeface="Calibri" panose="020F0502020204030204" pitchFamily="34" charset="0"/>
              </a:rPr>
              <a:t>sed for real-time processing of online transactions at scale, such as reservation systems and online sales</a:t>
            </a:r>
          </a:p>
          <a:p>
            <a:pPr>
              <a:defRPr/>
            </a:pPr>
            <a:r>
              <a:rPr kumimoji="0" lang="en-US" i="0" u="none" strike="noStrike" kern="1200" cap="none" spc="0" normalizeH="0" baseline="0" noProof="0" dirty="0">
                <a:ln>
                  <a:noFill/>
                </a:ln>
                <a:effectLst/>
                <a:uLnTx/>
                <a:uFillTx/>
                <a:latin typeface="Calibri" panose="020F0502020204030204" pitchFamily="34" charset="0"/>
                <a:cs typeface="Calibri" panose="020F0502020204030204" pitchFamily="34" charset="0"/>
              </a:rPr>
              <a:t>Designed to quickly process tons of small-scale transactions in real time</a:t>
            </a:r>
          </a:p>
        </p:txBody>
      </p:sp>
      <p:cxnSp>
        <p:nvCxnSpPr>
          <p:cNvPr id="5" name="Straight Connector 4">
            <a:extLst>
              <a:ext uri="{FF2B5EF4-FFF2-40B4-BE49-F238E27FC236}">
                <a16:creationId xmlns:a16="http://schemas.microsoft.com/office/drawing/2014/main" id="{F62ACC4A-7D10-4AD6-AA77-95E5A4D143A9}"/>
              </a:ext>
              <a:ext uri="{C183D7F6-B498-43B3-948B-1728B52AA6E4}">
                <adec:decorative xmlns:adec="http://schemas.microsoft.com/office/drawing/2017/decorative" val="1"/>
              </a:ext>
            </a:extLst>
          </p:cNvPr>
          <p:cNvCxnSpPr>
            <a:cxnSpLocks/>
          </p:cNvCxnSpPr>
          <p:nvPr/>
        </p:nvCxnSpPr>
        <p:spPr>
          <a:xfrm>
            <a:off x="5764444" y="1429994"/>
            <a:ext cx="0" cy="2896909"/>
          </a:xfrm>
          <a:prstGeom prst="line">
            <a:avLst/>
          </a:prstGeom>
          <a:ln w="9525">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25D6A93-5B64-77BF-4F96-2BDA646E1130}"/>
              </a:ext>
            </a:extLst>
          </p:cNvPr>
          <p:cNvSpPr txBox="1"/>
          <p:nvPr/>
        </p:nvSpPr>
        <p:spPr>
          <a:xfrm>
            <a:off x="6427557" y="1355035"/>
            <a:ext cx="4972619" cy="2739468"/>
          </a:xfrm>
          <a:prstGeom prst="rect">
            <a:avLst/>
          </a:prstGeom>
          <a:noFill/>
        </p:spPr>
        <p:txBody>
          <a:bodyPr wrap="square" rtlCol="0">
            <a:spAutoFit/>
          </a:bodyPr>
          <a:lstStyle/>
          <a:p>
            <a:pPr algn="l">
              <a:lnSpc>
                <a:spcPct val="110000"/>
              </a:lnSpc>
              <a:spcBef>
                <a:spcPts val="900"/>
              </a:spcBef>
            </a:pPr>
            <a:r>
              <a:rPr lang="en-US" b="1" dirty="0">
                <a:latin typeface="Calibri" panose="020F0502020204030204" pitchFamily="34" charset="0"/>
                <a:cs typeface="Calibri" panose="020F0502020204030204" pitchFamily="34" charset="0"/>
              </a:rPr>
              <a:t>OLAP = Online Analytical Processing</a:t>
            </a:r>
          </a:p>
          <a:p>
            <a:pPr marL="285750" indent="-285750" algn="l">
              <a:lnSpc>
                <a:spcPct val="110000"/>
              </a:lnSpc>
              <a:spcBef>
                <a:spcPts val="900"/>
              </a:spcBef>
              <a:buFont typeface="Arial" panose="020B0604020202020204" pitchFamily="34" charset="0"/>
              <a:buChar char="•"/>
            </a:pPr>
            <a:r>
              <a:rPr lang="en-US" sz="1600" b="0" i="0" dirty="0">
                <a:effectLst/>
                <a:latin typeface="Calibri" panose="020F0502020204030204" pitchFamily="34" charset="0"/>
                <a:cs typeface="Calibri" panose="020F0502020204030204" pitchFamily="34" charset="0"/>
              </a:rPr>
              <a:t>Optimized for complex data analysis and reporting</a:t>
            </a:r>
          </a:p>
          <a:p>
            <a:pPr marL="285750" indent="-285750" algn="l">
              <a:lnSpc>
                <a:spcPct val="110000"/>
              </a:lnSpc>
              <a:spcBef>
                <a:spcPts val="9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U</a:t>
            </a:r>
            <a:r>
              <a:rPr lang="en-US" sz="1600" b="0" i="0" dirty="0">
                <a:effectLst/>
                <a:latin typeface="Calibri" panose="020F0502020204030204" pitchFamily="34" charset="0"/>
                <a:cs typeface="Calibri" panose="020F0502020204030204" pitchFamily="34" charset="0"/>
              </a:rPr>
              <a:t>sed by data scientists, business analysts, and knowledge workers to analyze large data sets from multiple perspectives</a:t>
            </a:r>
          </a:p>
          <a:p>
            <a:pPr marL="285750" indent="-285750" algn="l">
              <a:lnSpc>
                <a:spcPct val="110000"/>
              </a:lnSpc>
              <a:spcBef>
                <a:spcPts val="9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S</a:t>
            </a:r>
            <a:r>
              <a:rPr lang="en-US" sz="1600" b="0" i="0" dirty="0">
                <a:effectLst/>
                <a:latin typeface="Calibri" panose="020F0502020204030204" pitchFamily="34" charset="0"/>
                <a:cs typeface="Calibri" panose="020F0502020204030204" pitchFamily="34" charset="0"/>
              </a:rPr>
              <a:t>ystems support business intelligence (BI), data mining, and other decision support applications</a:t>
            </a:r>
          </a:p>
          <a:p>
            <a:pPr marL="285750" indent="-285750" algn="l">
              <a:lnSpc>
                <a:spcPct val="110000"/>
              </a:lnSpc>
              <a:spcBef>
                <a:spcPts val="9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Designed to </a:t>
            </a:r>
            <a:r>
              <a:rPr lang="en-US" sz="1600" b="0" i="0" dirty="0">
                <a:effectLst/>
                <a:latin typeface="Calibri" panose="020F0502020204030204" pitchFamily="34" charset="0"/>
                <a:cs typeface="Calibri" panose="020F0502020204030204" pitchFamily="34" charset="0"/>
              </a:rPr>
              <a:t>handle complex queries for rapid analysis</a:t>
            </a:r>
            <a:endParaRPr lang="en-US" sz="1600" dirty="0">
              <a:latin typeface="Calibri" panose="020F0502020204030204" pitchFamily="34" charset="0"/>
              <a:cs typeface="Calibri" panose="020F0502020204030204" pitchFamily="34" charset="0"/>
            </a:endParaRPr>
          </a:p>
        </p:txBody>
      </p:sp>
      <p:pic>
        <p:nvPicPr>
          <p:cNvPr id="3074" name="Picture 2" descr="Comprehensive Comparison of OLTP and OLAP: Key Differences, Use Cases, and  Choosing the Right Solution | by Nilimesh Halder, PhD | Medium">
            <a:extLst>
              <a:ext uri="{FF2B5EF4-FFF2-40B4-BE49-F238E27FC236}">
                <a16:creationId xmlns:a16="http://schemas.microsoft.com/office/drawing/2014/main" id="{55DB696D-6D34-A1CE-1912-544E040CE3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4704" y="4589393"/>
            <a:ext cx="4399480" cy="2199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4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4D234-B64F-5AEC-C2B5-11560D4F5338}"/>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Background: Normalization</a:t>
            </a:r>
          </a:p>
        </p:txBody>
      </p:sp>
      <p:sp>
        <p:nvSpPr>
          <p:cNvPr id="6" name="Content Placeholder 42">
            <a:extLst>
              <a:ext uri="{FF2B5EF4-FFF2-40B4-BE49-F238E27FC236}">
                <a16:creationId xmlns:a16="http://schemas.microsoft.com/office/drawing/2014/main" id="{0CFF7596-6327-5EBC-1D17-95EC752B5069}"/>
              </a:ext>
            </a:extLst>
          </p:cNvPr>
          <p:cNvSpPr>
            <a:spLocks noGrp="1"/>
          </p:cNvSpPr>
          <p:nvPr>
            <p:ph idx="1"/>
          </p:nvPr>
        </p:nvSpPr>
        <p:spPr>
          <a:xfrm>
            <a:off x="609600" y="1368288"/>
            <a:ext cx="4674965" cy="2387284"/>
          </a:xfrm>
        </p:spPr>
        <p:txBody>
          <a:bodyPr>
            <a:normAutofit/>
          </a:bodyPr>
          <a:lstStyle/>
          <a:p>
            <a:pPr marL="0" marR="0" lvl="0" indent="0" algn="l" defTabSz="914400" rtl="0" eaLnBrk="1" fontAlgn="auto" latinLnBrk="0" hangingPunct="1">
              <a:lnSpc>
                <a:spcPct val="110000"/>
              </a:lnSpc>
              <a:spcBef>
                <a:spcPts val="1200"/>
              </a:spcBef>
              <a:spcAft>
                <a:spcPts val="0"/>
              </a:spcAft>
              <a:buClrTx/>
              <a:buSzPct val="70000"/>
              <a:buFont typeface="Wingdings" panose="05000000000000000000" pitchFamily="2" charset="2"/>
              <a:buNone/>
              <a:tabLst/>
              <a:defRPr/>
            </a:pP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OLTP</a:t>
            </a:r>
            <a:endParaRPr kumimoji="0" lang="en-US"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a:defRPr/>
            </a:pPr>
            <a:r>
              <a:rPr lang="en-US" b="0" i="0" dirty="0">
                <a:effectLst/>
                <a:latin typeface="Calibri" panose="020F0502020204030204" pitchFamily="34" charset="0"/>
                <a:cs typeface="Calibri" panose="020F0502020204030204" pitchFamily="34" charset="0"/>
              </a:rPr>
              <a:t>Normalization applied to minimize data redundancy and ensure data integrity</a:t>
            </a:r>
          </a:p>
          <a:p>
            <a:pPr>
              <a:defRPr/>
            </a:pPr>
            <a:r>
              <a:rPr lang="en-US" dirty="0">
                <a:latin typeface="Calibri" panose="020F0502020204030204" pitchFamily="34" charset="0"/>
                <a:cs typeface="Calibri" panose="020F0502020204030204" pitchFamily="34" charset="0"/>
              </a:rPr>
              <a:t>Prioritize consistent, real-time transactional processing through highly normalized, third normal form (3NF) tables</a:t>
            </a:r>
          </a:p>
        </p:txBody>
      </p:sp>
      <p:sp>
        <p:nvSpPr>
          <p:cNvPr id="7" name="Content Placeholder 42">
            <a:extLst>
              <a:ext uri="{FF2B5EF4-FFF2-40B4-BE49-F238E27FC236}">
                <a16:creationId xmlns:a16="http://schemas.microsoft.com/office/drawing/2014/main" id="{1B3B3A8C-047A-1C98-EB9B-8191B5DCB03C}"/>
              </a:ext>
            </a:extLst>
          </p:cNvPr>
          <p:cNvSpPr txBox="1">
            <a:spLocks/>
          </p:cNvSpPr>
          <p:nvPr/>
        </p:nvSpPr>
        <p:spPr>
          <a:xfrm>
            <a:off x="6096000" y="1368288"/>
            <a:ext cx="4674965" cy="2387284"/>
          </a:xfrm>
          <a:prstGeom prst="rect">
            <a:avLst/>
          </a:prstGeom>
        </p:spPr>
        <p:txBody>
          <a:bodyPr vert="horz" lIns="0" tIns="45720" rIns="0" bIns="45720" rtlCol="0">
            <a:normAutofit/>
          </a:bodyPr>
          <a:lstStyle>
            <a:lvl1pPr marL="228600" indent="-228600" algn="l" defTabSz="914400" rtl="0" eaLnBrk="1" latinLnBrk="0" hangingPunct="1">
              <a:lnSpc>
                <a:spcPct val="110000"/>
              </a:lnSpc>
              <a:spcBef>
                <a:spcPts val="12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1pPr>
            <a:lvl2pPr marL="685800" indent="-228600" algn="l" defTabSz="914400" rtl="0" eaLnBrk="1" latinLnBrk="0" hangingPunct="1">
              <a:lnSpc>
                <a:spcPct val="110000"/>
              </a:lnSpc>
              <a:spcBef>
                <a:spcPts val="12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2pPr>
            <a:lvl3pPr marL="1143000" indent="-228600" algn="l" defTabSz="914400" rtl="0" eaLnBrk="1" latinLnBrk="0" hangingPunct="1">
              <a:lnSpc>
                <a:spcPct val="110000"/>
              </a:lnSpc>
              <a:spcBef>
                <a:spcPts val="12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3pPr>
            <a:lvl4pPr marL="1600200" indent="-228600" algn="l" defTabSz="914400" rtl="0" eaLnBrk="1" latinLnBrk="0" hangingPunct="1">
              <a:lnSpc>
                <a:spcPct val="110000"/>
              </a:lnSpc>
              <a:spcBef>
                <a:spcPts val="12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10000"/>
              </a:lnSpc>
              <a:spcBef>
                <a:spcPts val="1200"/>
              </a:spcBef>
              <a:buClr>
                <a:schemeClr val="accent1"/>
              </a:buClr>
              <a:buSzPct val="110000"/>
              <a:buFont typeface="Wingdings" panose="05000000000000000000" pitchFamily="2" charset="2"/>
              <a:buChar char="§"/>
              <a:defRPr sz="11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ClrTx/>
              <a:buSzPct val="70000"/>
              <a:buFont typeface="Wingdings" panose="05000000000000000000" pitchFamily="2" charset="2"/>
              <a:buNone/>
              <a:defRPr/>
            </a:pPr>
            <a:r>
              <a:rPr lang="en-US" sz="1800" b="1" dirty="0">
                <a:solidFill>
                  <a:srgbClr val="000000"/>
                </a:solidFill>
                <a:latin typeface="Calibri" panose="020F0502020204030204" pitchFamily="34" charset="0"/>
                <a:cs typeface="Calibri" panose="020F0502020204030204" pitchFamily="34" charset="0"/>
              </a:rPr>
              <a:t>OLAP</a:t>
            </a:r>
            <a:endParaRPr lang="en-US" b="1" dirty="0">
              <a:solidFill>
                <a:srgbClr val="000000"/>
              </a:solidFill>
              <a:latin typeface="Calibri" panose="020F0502020204030204" pitchFamily="34" charset="0"/>
              <a:cs typeface="Calibri" panose="020F0502020204030204" pitchFamily="34" charset="0"/>
            </a:endParaRPr>
          </a:p>
          <a:p>
            <a:pPr>
              <a:defRPr/>
            </a:pPr>
            <a:r>
              <a:rPr lang="en-US" dirty="0">
                <a:latin typeface="Calibri" panose="020F0502020204030204" pitchFamily="34" charset="0"/>
                <a:cs typeface="Calibri" panose="020F0502020204030204" pitchFamily="34" charset="0"/>
              </a:rPr>
              <a:t>Use a denormalized structure, such as a star schema, to optimize complex analytical queries</a:t>
            </a:r>
          </a:p>
          <a:p>
            <a:pPr>
              <a:defRPr/>
            </a:pPr>
            <a:r>
              <a:rPr lang="en-US" dirty="0">
                <a:latin typeface="Calibri" panose="020F0502020204030204" pitchFamily="34" charset="0"/>
                <a:cs typeface="Calibri" panose="020F0502020204030204" pitchFamily="34" charset="0"/>
              </a:rPr>
              <a:t>Prioritize rapid query performance for historical data analysis by using denormalized structures to reduce joins and complex calculations</a:t>
            </a:r>
          </a:p>
        </p:txBody>
      </p:sp>
      <p:pic>
        <p:nvPicPr>
          <p:cNvPr id="1026" name="Picture 2" descr="Third Normal Form (3NF) - Database Normalization">
            <a:extLst>
              <a:ext uri="{FF2B5EF4-FFF2-40B4-BE49-F238E27FC236}">
                <a16:creationId xmlns:a16="http://schemas.microsoft.com/office/drawing/2014/main" id="{2CB5A5CB-6DF6-F804-0042-EE66C4A7EA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8624" y="4458276"/>
            <a:ext cx="5345229" cy="206287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1643971-9592-4BFA-A3ED-DF7C04BE3BFC}"/>
              </a:ext>
            </a:extLst>
          </p:cNvPr>
          <p:cNvSpPr txBox="1"/>
          <p:nvPr/>
        </p:nvSpPr>
        <p:spPr>
          <a:xfrm>
            <a:off x="1338943" y="5029200"/>
            <a:ext cx="1464247"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3NF example:</a:t>
            </a:r>
          </a:p>
        </p:txBody>
      </p:sp>
    </p:spTree>
    <p:extLst>
      <p:ext uri="{BB962C8B-B14F-4D97-AF65-F5344CB8AC3E}">
        <p14:creationId xmlns:p14="http://schemas.microsoft.com/office/powerpoint/2010/main" val="2722195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C7001-AE4B-AA7F-14B0-62375B127BBA}"/>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Background: Popular Data Modeling Approaches</a:t>
            </a:r>
          </a:p>
        </p:txBody>
      </p:sp>
      <p:sp>
        <p:nvSpPr>
          <p:cNvPr id="3" name="Content Placeholder 2">
            <a:extLst>
              <a:ext uri="{FF2B5EF4-FFF2-40B4-BE49-F238E27FC236}">
                <a16:creationId xmlns:a16="http://schemas.microsoft.com/office/drawing/2014/main" id="{3C7B7AF3-E40A-AA83-47D0-19360A2F04C7}"/>
              </a:ext>
            </a:extLst>
          </p:cNvPr>
          <p:cNvSpPr>
            <a:spLocks noGrp="1"/>
          </p:cNvSpPr>
          <p:nvPr>
            <p:ph idx="1"/>
          </p:nvPr>
        </p:nvSpPr>
        <p:spPr>
          <a:xfrm>
            <a:off x="624244" y="1016272"/>
            <a:ext cx="3200400" cy="4992624"/>
          </a:xfrm>
        </p:spPr>
        <p:txBody>
          <a:bodyPr/>
          <a:lstStyle/>
          <a:p>
            <a:pPr marL="0" indent="0">
              <a:buNone/>
            </a:pPr>
            <a:r>
              <a:rPr lang="en-US" sz="1800" b="1" dirty="0">
                <a:latin typeface="Calibri" panose="020F0502020204030204" pitchFamily="34" charset="0"/>
                <a:cs typeface="Calibri" panose="020F0502020204030204" pitchFamily="34" charset="0"/>
              </a:rPr>
              <a:t>Kimball</a:t>
            </a:r>
          </a:p>
          <a:p>
            <a:r>
              <a:rPr lang="en-US" sz="1400" dirty="0">
                <a:latin typeface="Calibri" panose="020F0502020204030204" pitchFamily="34" charset="0"/>
                <a:cs typeface="Calibri" panose="020F0502020204030204" pitchFamily="34" charset="0"/>
              </a:rPr>
              <a:t>Bottom-up approach (data marts first) that focuses on business processes and needs</a:t>
            </a:r>
          </a:p>
          <a:p>
            <a:r>
              <a:rPr lang="en-US" sz="1400" dirty="0">
                <a:latin typeface="Calibri" panose="020F0502020204030204" pitchFamily="34" charset="0"/>
                <a:cs typeface="Calibri" panose="020F0502020204030204" pitchFamily="34" charset="0"/>
              </a:rPr>
              <a:t>Uses star schemas</a:t>
            </a:r>
          </a:p>
          <a:p>
            <a:r>
              <a:rPr lang="en-US" sz="1400" dirty="0">
                <a:latin typeface="Calibri" panose="020F0502020204030204" pitchFamily="34" charset="0"/>
                <a:cs typeface="Calibri" panose="020F0502020204030204" pitchFamily="34" charset="0"/>
              </a:rPr>
              <a:t>Quick development of useful data structures is the highest priority</a:t>
            </a:r>
          </a:p>
          <a:p>
            <a:r>
              <a:rPr lang="en-US" sz="1400" dirty="0">
                <a:latin typeface="Calibri" panose="020F0502020204030204" pitchFamily="34" charset="0"/>
                <a:cs typeface="Calibri" panose="020F0502020204030204" pitchFamily="34" charset="0"/>
              </a:rPr>
              <a:t>Good for quick development, ease of use, and tailored data for specific business units</a:t>
            </a:r>
          </a:p>
          <a:p>
            <a:r>
              <a:rPr lang="en-US" sz="1400" dirty="0">
                <a:latin typeface="Calibri" panose="020F0502020204030204" pitchFamily="34" charset="0"/>
                <a:cs typeface="Calibri" panose="020F0502020204030204" pitchFamily="34" charset="0"/>
              </a:rPr>
              <a:t>May have limitations in scalability, flexibility, and historical data management</a:t>
            </a:r>
          </a:p>
        </p:txBody>
      </p:sp>
      <p:sp>
        <p:nvSpPr>
          <p:cNvPr id="4" name="Content Placeholder 3">
            <a:extLst>
              <a:ext uri="{FF2B5EF4-FFF2-40B4-BE49-F238E27FC236}">
                <a16:creationId xmlns:a16="http://schemas.microsoft.com/office/drawing/2014/main" id="{6AB06DA1-10F8-D3E1-4836-67EBF4DD73B1}"/>
              </a:ext>
            </a:extLst>
          </p:cNvPr>
          <p:cNvSpPr>
            <a:spLocks noGrp="1"/>
          </p:cNvSpPr>
          <p:nvPr>
            <p:ph idx="13"/>
          </p:nvPr>
        </p:nvSpPr>
        <p:spPr>
          <a:xfrm>
            <a:off x="4501598" y="1016272"/>
            <a:ext cx="3200400" cy="4992624"/>
          </a:xfrm>
        </p:spPr>
        <p:txBody>
          <a:bodyPr/>
          <a:lstStyle/>
          <a:p>
            <a:pPr marL="0" indent="0">
              <a:buNone/>
            </a:pPr>
            <a:r>
              <a:rPr lang="en-US" sz="1800" b="1" dirty="0" err="1">
                <a:latin typeface="Calibri" panose="020F0502020204030204" pitchFamily="34" charset="0"/>
                <a:cs typeface="Calibri" panose="020F0502020204030204" pitchFamily="34" charset="0"/>
              </a:rPr>
              <a:t>Inmon</a:t>
            </a:r>
            <a:endParaRPr lang="en-US" sz="1800" b="1"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Top-down approach (EDW first) that emphasizes data and is good for organizations that need a single source of truth for complex reporting</a:t>
            </a:r>
          </a:p>
          <a:p>
            <a:r>
              <a:rPr lang="en-US" sz="1400" dirty="0">
                <a:latin typeface="Calibri" panose="020F0502020204030204" pitchFamily="34" charset="0"/>
                <a:cs typeface="Calibri" panose="020F0502020204030204" pitchFamily="34" charset="0"/>
              </a:rPr>
              <a:t>Uses 3NF schema</a:t>
            </a:r>
          </a:p>
          <a:p>
            <a:r>
              <a:rPr lang="en-US" sz="1400" dirty="0">
                <a:latin typeface="Calibri" panose="020F0502020204030204" pitchFamily="34" charset="0"/>
                <a:cs typeface="Calibri" panose="020F0502020204030204" pitchFamily="34" charset="0"/>
              </a:rPr>
              <a:t>Data consistency is the highest priority</a:t>
            </a:r>
          </a:p>
          <a:p>
            <a:r>
              <a:rPr lang="en-US" sz="1400" dirty="0">
                <a:latin typeface="Calibri" panose="020F0502020204030204" pitchFamily="34" charset="0"/>
                <a:cs typeface="Calibri" panose="020F0502020204030204" pitchFamily="34" charset="0"/>
              </a:rPr>
              <a:t>Can be complex to add multiple tables to the data model</a:t>
            </a:r>
          </a:p>
          <a:p>
            <a:r>
              <a:rPr lang="en-US" sz="1400" dirty="0">
                <a:latin typeface="Calibri" panose="020F0502020204030204" pitchFamily="34" charset="0"/>
                <a:cs typeface="Calibri" panose="020F0502020204030204" pitchFamily="34" charset="0"/>
              </a:rPr>
              <a:t>Requires skilled resources that can be expensive and hard to find</a:t>
            </a:r>
          </a:p>
          <a:p>
            <a:endParaRPr lang="en-US"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F1F2293D-F8C4-7233-747C-A559F81262ED}"/>
              </a:ext>
            </a:extLst>
          </p:cNvPr>
          <p:cNvSpPr>
            <a:spLocks noGrp="1"/>
          </p:cNvSpPr>
          <p:nvPr>
            <p:ph idx="14"/>
          </p:nvPr>
        </p:nvSpPr>
        <p:spPr>
          <a:xfrm>
            <a:off x="8396644" y="1016272"/>
            <a:ext cx="3200400" cy="4992624"/>
          </a:xfrm>
        </p:spPr>
        <p:txBody>
          <a:bodyPr>
            <a:normAutofit lnSpcReduction="10000"/>
          </a:bodyPr>
          <a:lstStyle/>
          <a:p>
            <a:pPr marL="0" indent="0">
              <a:buNone/>
            </a:pPr>
            <a:r>
              <a:rPr lang="en-US" sz="1800" b="1" dirty="0">
                <a:latin typeface="Calibri" panose="020F0502020204030204" pitchFamily="34" charset="0"/>
                <a:cs typeface="Calibri" panose="020F0502020204030204" pitchFamily="34" charset="0"/>
              </a:rPr>
              <a:t>Data Vault</a:t>
            </a:r>
          </a:p>
          <a:p>
            <a:r>
              <a:rPr lang="en-US" sz="1400" dirty="0">
                <a:latin typeface="Calibri" panose="020F0502020204030204" pitchFamily="34" charset="0"/>
                <a:cs typeface="Calibri" panose="020F0502020204030204" pitchFamily="34" charset="0"/>
              </a:rPr>
              <a:t>Hybrid approach that combines elements of both Kimball and </a:t>
            </a:r>
            <a:r>
              <a:rPr lang="en-US" sz="1400" dirty="0" err="1">
                <a:latin typeface="Calibri" panose="020F0502020204030204" pitchFamily="34" charset="0"/>
                <a:cs typeface="Calibri" panose="020F0502020204030204" pitchFamily="34" charset="0"/>
              </a:rPr>
              <a:t>Inmon</a:t>
            </a:r>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Uses hub-and-spoke schema</a:t>
            </a:r>
          </a:p>
          <a:p>
            <a:pPr lvl="1"/>
            <a:r>
              <a:rPr lang="en-US" sz="1200" dirty="0">
                <a:latin typeface="Calibri" panose="020F0502020204030204" pitchFamily="34" charset="0"/>
                <a:cs typeface="Calibri" panose="020F0502020204030204" pitchFamily="34" charset="0"/>
              </a:rPr>
              <a:t>Hub: entity of interest</a:t>
            </a:r>
          </a:p>
          <a:p>
            <a:pPr lvl="1"/>
            <a:r>
              <a:rPr lang="en-US" sz="1200" dirty="0">
                <a:latin typeface="Calibri" panose="020F0502020204030204" pitchFamily="34" charset="0"/>
                <a:cs typeface="Calibri" panose="020F0502020204030204" pitchFamily="34" charset="0"/>
              </a:rPr>
              <a:t>Spoke/satellite: historical metadata</a:t>
            </a:r>
          </a:p>
          <a:p>
            <a:pPr lvl="1"/>
            <a:r>
              <a:rPr lang="en-US" sz="1200" dirty="0">
                <a:latin typeface="Calibri" panose="020F0502020204030204" pitchFamily="34" charset="0"/>
                <a:cs typeface="Calibri" panose="020F0502020204030204" pitchFamily="34" charset="0"/>
              </a:rPr>
              <a:t>Link: connect hubs through a defined relationship</a:t>
            </a:r>
          </a:p>
          <a:p>
            <a:r>
              <a:rPr lang="en-US" sz="1400" dirty="0">
                <a:latin typeface="Calibri" panose="020F0502020204030204" pitchFamily="34" charset="0"/>
                <a:cs typeface="Calibri" panose="020F0502020204030204" pitchFamily="34" charset="0"/>
              </a:rPr>
              <a:t>Speed of both development and run time is the highest priority</a:t>
            </a:r>
          </a:p>
          <a:p>
            <a:r>
              <a:rPr lang="en-US" sz="1400" dirty="0">
                <a:latin typeface="Calibri" panose="020F0502020204030204" pitchFamily="34" charset="0"/>
                <a:cs typeface="Calibri" panose="020F0502020204030204" pitchFamily="34" charset="0"/>
              </a:rPr>
              <a:t>Focuses on the relationships between data and is good for organizations that need scalability, agility, and raw data storage</a:t>
            </a:r>
          </a:p>
          <a:p>
            <a:r>
              <a:rPr lang="en-US" sz="1400" dirty="0">
                <a:latin typeface="Calibri" panose="020F0502020204030204" pitchFamily="34" charset="0"/>
                <a:cs typeface="Calibri" panose="020F0502020204030204" pitchFamily="34" charset="0"/>
              </a:rPr>
              <a:t>Designed to handle changes and additions to the data model with minimal impact on existing structures</a:t>
            </a:r>
          </a:p>
        </p:txBody>
      </p:sp>
      <p:pic>
        <p:nvPicPr>
          <p:cNvPr id="1026" name="Picture 2" descr="การออกแบบ Data Warehouse แบบ Kimball กับ Inmon - General Discussion เรื่อง  Data Engineering - Data Engineer Cafe">
            <a:extLst>
              <a:ext uri="{FF2B5EF4-FFF2-40B4-BE49-F238E27FC236}">
                <a16:creationId xmlns:a16="http://schemas.microsoft.com/office/drawing/2014/main" id="{502E5435-0E2D-BB11-8CA3-710FF96D3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000" y="4830683"/>
            <a:ext cx="4229100" cy="1930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at Is Data Integration Architecture: Diagram, &amp; Best Practices | Airbyte">
            <a:extLst>
              <a:ext uri="{FF2B5EF4-FFF2-40B4-BE49-F238E27FC236}">
                <a16:creationId xmlns:a16="http://schemas.microsoft.com/office/drawing/2014/main" id="{CC67D8E8-9265-E638-6650-FA64D06AA6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6471" y="4810805"/>
            <a:ext cx="2282952" cy="2047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9051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6F017-67A4-49E3-6995-8F3665716419}"/>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Why Kimball?</a:t>
            </a:r>
          </a:p>
        </p:txBody>
      </p:sp>
      <p:sp>
        <p:nvSpPr>
          <p:cNvPr id="3" name="Content Placeholder 2">
            <a:extLst>
              <a:ext uri="{FF2B5EF4-FFF2-40B4-BE49-F238E27FC236}">
                <a16:creationId xmlns:a16="http://schemas.microsoft.com/office/drawing/2014/main" id="{C39DF0A2-0F57-C2C2-1AC1-7EE3140CDA02}"/>
              </a:ext>
            </a:extLst>
          </p:cNvPr>
          <p:cNvSpPr>
            <a:spLocks noGrp="1"/>
          </p:cNvSpPr>
          <p:nvPr>
            <p:ph idx="1"/>
          </p:nvPr>
        </p:nvSpPr>
        <p:spPr>
          <a:xfrm>
            <a:off x="929715" y="264085"/>
            <a:ext cx="3557097" cy="1891955"/>
          </a:xfrm>
        </p:spPr>
        <p:txBody>
          <a:bodyPr>
            <a:normAutofit/>
          </a:bodyPr>
          <a:lstStyle/>
          <a:p>
            <a:pPr marL="0" indent="0" algn="l">
              <a:lnSpc>
                <a:spcPts val="2400"/>
              </a:lnSpc>
              <a:buNone/>
            </a:pPr>
            <a:r>
              <a:rPr lang="en-US" b="0" i="0" dirty="0">
                <a:solidFill>
                  <a:srgbClr val="242424"/>
                </a:solidFill>
                <a:effectLst/>
                <a:latin typeface="Calibri" panose="020F0502020204030204" pitchFamily="34" charset="0"/>
                <a:cs typeface="Calibri" panose="020F0502020204030204" pitchFamily="34" charset="0"/>
              </a:rPr>
              <a:t>Use </a:t>
            </a:r>
            <a:r>
              <a:rPr lang="en-US" b="1" i="0" dirty="0">
                <a:solidFill>
                  <a:srgbClr val="242424"/>
                </a:solidFill>
                <a:effectLst/>
                <a:latin typeface="Calibri" panose="020F0502020204030204" pitchFamily="34" charset="0"/>
                <a:cs typeface="Calibri" panose="020F0502020204030204" pitchFamily="34" charset="0"/>
              </a:rPr>
              <a:t>Kimball</a:t>
            </a:r>
            <a:r>
              <a:rPr lang="en-US" b="0" i="0" dirty="0">
                <a:solidFill>
                  <a:srgbClr val="242424"/>
                </a:solidFill>
                <a:effectLst/>
                <a:latin typeface="Calibri" panose="020F0502020204030204" pitchFamily="34" charset="0"/>
                <a:cs typeface="Calibri" panose="020F0502020204030204" pitchFamily="34" charset="0"/>
              </a:rPr>
              <a:t> if…</a:t>
            </a:r>
          </a:p>
          <a:p>
            <a:pPr algn="l">
              <a:lnSpc>
                <a:spcPts val="2400"/>
              </a:lnSpc>
              <a:buFont typeface="Arial" panose="020B0604020202020204" pitchFamily="34" charset="0"/>
              <a:buChar char="•"/>
            </a:pPr>
            <a:r>
              <a:rPr lang="en-US" dirty="0">
                <a:solidFill>
                  <a:srgbClr val="242424"/>
                </a:solidFill>
                <a:latin typeface="Calibri" panose="020F0502020204030204" pitchFamily="34" charset="0"/>
                <a:cs typeface="Calibri" panose="020F0502020204030204" pitchFamily="34" charset="0"/>
              </a:rPr>
              <a:t>Your </a:t>
            </a:r>
            <a:r>
              <a:rPr lang="en-US" b="0" i="0" dirty="0">
                <a:solidFill>
                  <a:srgbClr val="242424"/>
                </a:solidFill>
                <a:effectLst/>
                <a:latin typeface="Calibri" panose="020F0502020204030204" pitchFamily="34" charset="0"/>
                <a:cs typeface="Calibri" panose="020F0502020204030204" pitchFamily="34" charset="0"/>
              </a:rPr>
              <a:t>business requirements are well-defined and stable</a:t>
            </a:r>
          </a:p>
          <a:p>
            <a:pPr algn="l">
              <a:lnSpc>
                <a:spcPts val="2400"/>
              </a:lnSpc>
              <a:buFont typeface="Arial" panose="020B0604020202020204" pitchFamily="34" charset="0"/>
              <a:buChar char="•"/>
            </a:pPr>
            <a:r>
              <a:rPr lang="en-US" b="0" i="0" dirty="0">
                <a:solidFill>
                  <a:srgbClr val="242424"/>
                </a:solidFill>
                <a:effectLst/>
                <a:latin typeface="Calibri" panose="020F0502020204030204" pitchFamily="34" charset="0"/>
                <a:cs typeface="Calibri" panose="020F0502020204030204" pitchFamily="34" charset="0"/>
              </a:rPr>
              <a:t>You are querying lots of data often</a:t>
            </a:r>
          </a:p>
          <a:p>
            <a:endParaRPr lang="en-US"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1652D95C-1EE5-F875-CECA-5B827D6FEC78}"/>
              </a:ext>
            </a:extLst>
          </p:cNvPr>
          <p:cNvSpPr txBox="1"/>
          <p:nvPr/>
        </p:nvSpPr>
        <p:spPr>
          <a:xfrm>
            <a:off x="357764" y="4427055"/>
            <a:ext cx="5727527" cy="2677656"/>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User-centric and intuitive design</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Business-driven: final product is relevant and useful to decision-makers</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Simple: easy for non-technical users to understand and navigate</a:t>
            </a: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a:p>
            <a:r>
              <a:rPr lang="en-US" sz="1400" b="1" dirty="0">
                <a:latin typeface="Calibri" panose="020F0502020204030204" pitchFamily="34" charset="0"/>
                <a:cs typeface="Calibri" panose="020F0502020204030204" pitchFamily="34" charset="0"/>
              </a:rPr>
              <a:t>High-performance queries</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Faster retrieval: optimized for high-volume analytical queries</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Efficient joins: simple joins between fact/dims are highly efficient and performant, especially on modern cloud data warehouses.</a:t>
            </a: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a:p>
            <a:endParaRPr lang="en-US" sz="1400" dirty="0"/>
          </a:p>
        </p:txBody>
      </p:sp>
      <p:sp>
        <p:nvSpPr>
          <p:cNvPr id="10" name="TextBox 9">
            <a:extLst>
              <a:ext uri="{FF2B5EF4-FFF2-40B4-BE49-F238E27FC236}">
                <a16:creationId xmlns:a16="http://schemas.microsoft.com/office/drawing/2014/main" id="{A290AC0F-DF0D-1B6F-79B3-3902C29BA188}"/>
              </a:ext>
            </a:extLst>
          </p:cNvPr>
          <p:cNvSpPr txBox="1"/>
          <p:nvPr/>
        </p:nvSpPr>
        <p:spPr>
          <a:xfrm>
            <a:off x="6096000" y="1530731"/>
            <a:ext cx="5932714" cy="5047536"/>
          </a:xfrm>
          <a:prstGeom prst="rect">
            <a:avLst/>
          </a:prstGeom>
          <a:noFill/>
        </p:spPr>
        <p:txBody>
          <a:bodyPr wrap="square" rtlCol="0">
            <a:spAutoFit/>
          </a:bodyPr>
          <a:lstStyle/>
          <a:p>
            <a:pPr algn="l">
              <a:buNone/>
            </a:pPr>
            <a:r>
              <a:rPr lang="en-US" sz="1400" b="1" dirty="0">
                <a:latin typeface="Calibri" panose="020F0502020204030204" pitchFamily="34" charset="0"/>
                <a:cs typeface="Calibri" panose="020F0502020204030204" pitchFamily="34" charset="0"/>
              </a:rPr>
              <a:t>Agility and faster delivery</a:t>
            </a:r>
          </a:p>
          <a:p>
            <a:pPr marL="285750" indent="-285750" algn="l">
              <a:buFont typeface="Arial" panose="020B0604020202020204" pitchFamily="34" charset="0"/>
              <a:buChar char="•"/>
            </a:pPr>
            <a:r>
              <a:rPr lang="en-US" sz="1400" dirty="0">
                <a:latin typeface="Calibri" panose="020F0502020204030204" pitchFamily="34" charset="0"/>
                <a:cs typeface="Calibri" panose="020F0502020204030204" pitchFamily="34" charset="0"/>
              </a:rPr>
              <a:t>Bottom-up development: allows for faster initial delivery of value to a specific department, with the system expanding incrementally over time</a:t>
            </a:r>
          </a:p>
          <a:p>
            <a:pPr marL="285750" indent="-285750" algn="l">
              <a:buFont typeface="Arial" panose="020B0604020202020204" pitchFamily="34" charset="0"/>
              <a:buChar char="•"/>
            </a:pPr>
            <a:r>
              <a:rPr lang="en-US" sz="1400" dirty="0">
                <a:latin typeface="Calibri" panose="020F0502020204030204" pitchFamily="34" charset="0"/>
                <a:cs typeface="Calibri" panose="020F0502020204030204" pitchFamily="34" charset="0"/>
              </a:rPr>
              <a:t>Scalability: can add new business processes (and their star schemas) without redesigning the entire system</a:t>
            </a:r>
          </a:p>
          <a:p>
            <a:pPr algn="l"/>
            <a:endParaRPr lang="en-US" sz="1400" dirty="0">
              <a:latin typeface="Calibri" panose="020F0502020204030204" pitchFamily="34" charset="0"/>
              <a:cs typeface="Calibri" panose="020F0502020204030204" pitchFamily="34" charset="0"/>
            </a:endParaRPr>
          </a:p>
          <a:p>
            <a:pPr algn="l"/>
            <a:endParaRPr lang="en-US" sz="1400" dirty="0">
              <a:latin typeface="Calibri" panose="020F0502020204030204" pitchFamily="34" charset="0"/>
              <a:cs typeface="Calibri" panose="020F0502020204030204" pitchFamily="34" charset="0"/>
            </a:endParaRPr>
          </a:p>
          <a:p>
            <a:pPr algn="l"/>
            <a:endParaRPr lang="en-US" sz="1400" dirty="0">
              <a:latin typeface="Calibri" panose="020F0502020204030204" pitchFamily="34" charset="0"/>
              <a:cs typeface="Calibri" panose="020F0502020204030204" pitchFamily="34" charset="0"/>
            </a:endParaRPr>
          </a:p>
          <a:p>
            <a:r>
              <a:rPr lang="en-US" sz="1400" b="1" dirty="0">
                <a:latin typeface="Calibri" panose="020F0502020204030204" pitchFamily="34" charset="0"/>
                <a:cs typeface="Calibri" panose="020F0502020204030204" pitchFamily="34" charset="0"/>
              </a:rPr>
              <a:t>Consistency and governance</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Conformed dimensions: creates a single, consistent version of the truth, allowing for reliable cross-departmental analysis</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Reliable history tracking: provides a comprehensive history for analysis</a:t>
            </a:r>
          </a:p>
          <a:p>
            <a:endParaRPr lang="en-US" sz="1400" dirty="0">
              <a:latin typeface="Calibri" panose="020F0502020204030204" pitchFamily="34" charset="0"/>
              <a:cs typeface="Calibri" panose="020F0502020204030204" pitchFamily="34" charset="0"/>
            </a:endParaRPr>
          </a:p>
          <a:p>
            <a:endParaRPr lang="en-US" sz="1400" dirty="0">
              <a:latin typeface="Calibri" panose="020F0502020204030204" pitchFamily="34" charset="0"/>
              <a:cs typeface="Calibri" panose="020F0502020204030204" pitchFamily="34" charset="0"/>
            </a:endParaRPr>
          </a:p>
          <a:p>
            <a:endParaRPr lang="en-US" sz="1400" dirty="0">
              <a:latin typeface="Calibri" panose="020F0502020204030204" pitchFamily="34" charset="0"/>
              <a:cs typeface="Calibri" panose="020F0502020204030204" pitchFamily="34" charset="0"/>
            </a:endParaRPr>
          </a:p>
          <a:p>
            <a:r>
              <a:rPr lang="en-US" sz="1400" b="1" dirty="0">
                <a:latin typeface="Calibri" panose="020F0502020204030204" pitchFamily="34" charset="0"/>
                <a:cs typeface="Calibri" panose="020F0502020204030204" pitchFamily="34" charset="0"/>
              </a:rPr>
              <a:t>Adaptability to the modern data stack</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Compatibility with modern BI tools: easy to create reports and dashboards</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Integration with modern architectures: While developed decades ago, Kimball's principles remain relevant and are adapted for modern cloud data warehouses and data </a:t>
            </a:r>
            <a:r>
              <a:rPr lang="en-US" sz="1400" dirty="0" err="1">
                <a:latin typeface="Calibri" panose="020F0502020204030204" pitchFamily="34" charset="0"/>
                <a:cs typeface="Calibri" panose="020F0502020204030204" pitchFamily="34" charset="0"/>
              </a:rPr>
              <a:t>lakehouses</a:t>
            </a:r>
            <a:r>
              <a:rPr lang="en-US" sz="1400" dirty="0">
                <a:latin typeface="Calibri" panose="020F0502020204030204" pitchFamily="34" charset="0"/>
                <a:cs typeface="Calibri" panose="020F0502020204030204" pitchFamily="34" charset="0"/>
              </a:rPr>
              <a:t>. Tools like </a:t>
            </a:r>
            <a:r>
              <a:rPr lang="en-US" sz="1400" dirty="0" err="1">
                <a:latin typeface="Calibri" panose="020F0502020204030204" pitchFamily="34" charset="0"/>
                <a:cs typeface="Calibri" panose="020F0502020204030204" pitchFamily="34" charset="0"/>
              </a:rPr>
              <a:t>dbt</a:t>
            </a:r>
            <a:r>
              <a:rPr lang="en-US" sz="1400" dirty="0">
                <a:latin typeface="Calibri" panose="020F0502020204030204" pitchFamily="34" charset="0"/>
                <a:cs typeface="Calibri" panose="020F0502020204030204" pitchFamily="34" charset="0"/>
              </a:rPr>
              <a:t> support the creation of Kimball-style dimensional models within ELT workflows</a:t>
            </a: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a:p>
            <a:pPr algn="l"/>
            <a:endParaRPr lang="en-US" sz="1400" dirty="0"/>
          </a:p>
        </p:txBody>
      </p:sp>
      <p:pic>
        <p:nvPicPr>
          <p:cNvPr id="2055" name="Picture 7" descr="Free Stock Photo of Lightbulb with idea concept icon | Download Free Images  and Free Illustrations">
            <a:extLst>
              <a:ext uri="{FF2B5EF4-FFF2-40B4-BE49-F238E27FC236}">
                <a16:creationId xmlns:a16="http://schemas.microsoft.com/office/drawing/2014/main" id="{E3F0AF0D-9DAF-DD44-E4A2-193B71933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84342"/>
            <a:ext cx="919005" cy="946389"/>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9" descr="Kimball vs Inman - Data Analytics Team">
            <a:extLst>
              <a:ext uri="{FF2B5EF4-FFF2-40B4-BE49-F238E27FC236}">
                <a16:creationId xmlns:a16="http://schemas.microsoft.com/office/drawing/2014/main" id="{DEEEC103-D4E9-B80E-F395-C96E5CE22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784" y="1850989"/>
            <a:ext cx="5314360" cy="2344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7010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1E7FB9-B7A5-8ACC-BDC9-A6BD1F69F51A}"/>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What is a Star Schema?</a:t>
            </a:r>
          </a:p>
        </p:txBody>
      </p:sp>
      <p:cxnSp>
        <p:nvCxnSpPr>
          <p:cNvPr id="5" name="Straight Connector 4">
            <a:extLst>
              <a:ext uri="{FF2B5EF4-FFF2-40B4-BE49-F238E27FC236}">
                <a16:creationId xmlns:a16="http://schemas.microsoft.com/office/drawing/2014/main" id="{9973FF20-B69B-048D-7ADB-4083E98AF89B}"/>
              </a:ext>
              <a:ext uri="{C183D7F6-B498-43B3-948B-1728B52AA6E4}">
                <adec:decorative xmlns:adec="http://schemas.microsoft.com/office/drawing/2017/decorative" val="1"/>
              </a:ext>
            </a:extLst>
          </p:cNvPr>
          <p:cNvCxnSpPr>
            <a:cxnSpLocks/>
          </p:cNvCxnSpPr>
          <p:nvPr/>
        </p:nvCxnSpPr>
        <p:spPr>
          <a:xfrm>
            <a:off x="4253697" y="1131216"/>
            <a:ext cx="0" cy="5193388"/>
          </a:xfrm>
          <a:prstGeom prst="line">
            <a:avLst/>
          </a:prstGeom>
          <a:ln w="9525">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CE6FA4A7-0AE7-68F6-E763-E520A96136BF}"/>
              </a:ext>
            </a:extLst>
          </p:cNvPr>
          <p:cNvSpPr>
            <a:spLocks noGrp="1"/>
          </p:cNvSpPr>
          <p:nvPr>
            <p:ph idx="1"/>
          </p:nvPr>
        </p:nvSpPr>
        <p:spPr>
          <a:xfrm>
            <a:off x="609600" y="1565233"/>
            <a:ext cx="3200400" cy="3727533"/>
          </a:xfrm>
        </p:spPr>
        <p:txBody>
          <a:bodyPr/>
          <a:lstStyle/>
          <a:p>
            <a:pPr marL="0" indent="0">
              <a:buNone/>
            </a:pPr>
            <a:r>
              <a:rPr lang="en-US" dirty="0">
                <a:latin typeface="Calibri" panose="020F0502020204030204" pitchFamily="34" charset="0"/>
                <a:cs typeface="Calibri" panose="020F0502020204030204" pitchFamily="34" charset="0"/>
              </a:rPr>
              <a:t>A star schema is a </a:t>
            </a:r>
            <a:r>
              <a:rPr lang="en-US" u="sng" dirty="0">
                <a:latin typeface="Calibri" panose="020F0502020204030204" pitchFamily="34" charset="0"/>
                <a:cs typeface="Calibri" panose="020F0502020204030204" pitchFamily="34" charset="0"/>
              </a:rPr>
              <a:t>data modeling technique</a:t>
            </a:r>
            <a:r>
              <a:rPr lang="en-US" dirty="0">
                <a:latin typeface="Calibri" panose="020F0502020204030204" pitchFamily="34" charset="0"/>
                <a:cs typeface="Calibri" panose="020F0502020204030204" pitchFamily="34" charset="0"/>
              </a:rPr>
              <a:t> that organizes data into a central fact table containing measurable business metrics and surrounding dimension tables that provide descriptive context. This structure, resembling a star, simplifies data analysis by reducing the number of joins needed for queries, leading to faster read performance and easier user comprehension for reporting and business intelligence</a:t>
            </a:r>
          </a:p>
          <a:p>
            <a:pPr marL="0" indent="0">
              <a:buNone/>
            </a:pPr>
            <a:endParaRPr lang="en-US" dirty="0"/>
          </a:p>
        </p:txBody>
      </p:sp>
      <p:pic>
        <p:nvPicPr>
          <p:cNvPr id="2" name="Picture 2" descr="Data Modeling: The Star Schema. Data modeling is a crucial step in… | by  Marco Sanchez-Ayala | Medium">
            <a:extLst>
              <a:ext uri="{FF2B5EF4-FFF2-40B4-BE49-F238E27FC236}">
                <a16:creationId xmlns:a16="http://schemas.microsoft.com/office/drawing/2014/main" id="{AD3E501E-D1AF-8AA2-DC3C-0F5BC86775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7395" y="1206322"/>
            <a:ext cx="7142165" cy="5043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803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1A52C-0985-EAE3-C76D-5D22B2A29961}"/>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Star Schema Characteristics</a:t>
            </a:r>
          </a:p>
        </p:txBody>
      </p:sp>
      <p:sp>
        <p:nvSpPr>
          <p:cNvPr id="3" name="Content Placeholder 2">
            <a:extLst>
              <a:ext uri="{FF2B5EF4-FFF2-40B4-BE49-F238E27FC236}">
                <a16:creationId xmlns:a16="http://schemas.microsoft.com/office/drawing/2014/main" id="{DF68C50B-3F8D-471C-8245-D4B1ECCA2150}"/>
              </a:ext>
            </a:extLst>
          </p:cNvPr>
          <p:cNvSpPr>
            <a:spLocks noGrp="1"/>
          </p:cNvSpPr>
          <p:nvPr>
            <p:ph idx="1"/>
          </p:nvPr>
        </p:nvSpPr>
        <p:spPr>
          <a:xfrm>
            <a:off x="395278" y="1210474"/>
            <a:ext cx="2981437" cy="4992624"/>
          </a:xfrm>
        </p:spPr>
        <p:txBody>
          <a:bodyPr>
            <a:normAutofit/>
          </a:bodyPr>
          <a:lstStyle/>
          <a:p>
            <a:pPr marL="0" indent="0">
              <a:buNone/>
            </a:pPr>
            <a:r>
              <a:rPr lang="en-US" sz="2000" b="1" dirty="0">
                <a:latin typeface="Calibri" panose="020F0502020204030204" pitchFamily="34" charset="0"/>
                <a:cs typeface="Calibri" panose="020F0502020204030204" pitchFamily="34" charset="0"/>
              </a:rPr>
              <a:t>Core Components</a:t>
            </a:r>
          </a:p>
          <a:p>
            <a:r>
              <a:rPr lang="en-US" b="1" dirty="0">
                <a:latin typeface="Calibri" panose="020F0502020204030204" pitchFamily="34" charset="0"/>
                <a:cs typeface="Calibri" panose="020F0502020204030204" pitchFamily="34" charset="0"/>
              </a:rPr>
              <a:t>Fact Table(s): </a:t>
            </a:r>
            <a:r>
              <a:rPr lang="en-US" dirty="0">
                <a:latin typeface="Calibri" panose="020F0502020204030204" pitchFamily="34" charset="0"/>
                <a:cs typeface="Calibri" panose="020F0502020204030204" pitchFamily="34" charset="0"/>
              </a:rPr>
              <a:t>Located at the center, this table holds </a:t>
            </a:r>
            <a:r>
              <a:rPr lang="en-US" u="sng" dirty="0">
                <a:latin typeface="Calibri" panose="020F0502020204030204" pitchFamily="34" charset="0"/>
                <a:cs typeface="Calibri" panose="020F0502020204030204" pitchFamily="34" charset="0"/>
              </a:rPr>
              <a:t>quantitative data</a:t>
            </a:r>
            <a:r>
              <a:rPr lang="en-US" dirty="0">
                <a:latin typeface="Calibri" panose="020F0502020204030204" pitchFamily="34" charset="0"/>
                <a:cs typeface="Calibri" panose="020F0502020204030204" pitchFamily="34" charset="0"/>
              </a:rPr>
              <a:t>, such as sales figures, quantities, or revenue, along with foreign keys that link to the dimension tables. </a:t>
            </a:r>
          </a:p>
          <a:p>
            <a:r>
              <a:rPr lang="en-US" b="1" dirty="0">
                <a:latin typeface="Calibri" panose="020F0502020204030204" pitchFamily="34" charset="0"/>
                <a:cs typeface="Calibri" panose="020F0502020204030204" pitchFamily="34" charset="0"/>
              </a:rPr>
              <a:t>Dimension Tables:  </a:t>
            </a:r>
            <a:r>
              <a:rPr lang="en-US" dirty="0">
                <a:latin typeface="Calibri" panose="020F0502020204030204" pitchFamily="34" charset="0"/>
                <a:cs typeface="Calibri" panose="020F0502020204030204" pitchFamily="34" charset="0"/>
              </a:rPr>
              <a:t>These tables surround the fact table and contain </a:t>
            </a:r>
            <a:r>
              <a:rPr lang="en-US" u="sng" dirty="0">
                <a:latin typeface="Calibri" panose="020F0502020204030204" pitchFamily="34" charset="0"/>
                <a:cs typeface="Calibri" panose="020F0502020204030204" pitchFamily="34" charset="0"/>
              </a:rPr>
              <a:t>descriptive attributes </a:t>
            </a:r>
            <a:r>
              <a:rPr lang="en-US" dirty="0">
                <a:latin typeface="Calibri" panose="020F0502020204030204" pitchFamily="34" charset="0"/>
                <a:cs typeface="Calibri" panose="020F0502020204030204" pitchFamily="34" charset="0"/>
              </a:rPr>
              <a:t>that provide context to the facts. Examples include product details (name, brand, category), customer information (name, location), and date attributes (day, month, year). </a:t>
            </a:r>
          </a:p>
          <a:p>
            <a:endParaRPr lang="en-US"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ADE982A8-F612-B1CB-AC87-E5CF8EDCCCEE}"/>
              </a:ext>
            </a:extLst>
          </p:cNvPr>
          <p:cNvSpPr>
            <a:spLocks noGrp="1"/>
          </p:cNvSpPr>
          <p:nvPr>
            <p:ph idx="13"/>
          </p:nvPr>
        </p:nvSpPr>
        <p:spPr>
          <a:xfrm>
            <a:off x="8866102" y="1210474"/>
            <a:ext cx="3200400" cy="4992624"/>
          </a:xfrm>
        </p:spPr>
        <p:txBody>
          <a:bodyPr/>
          <a:lstStyle/>
          <a:p>
            <a:pPr marL="0" indent="0">
              <a:buNone/>
            </a:pPr>
            <a:r>
              <a:rPr lang="en-US" sz="2000" b="1" dirty="0">
                <a:latin typeface="Calibri" panose="020F0502020204030204" pitchFamily="34" charset="0"/>
                <a:cs typeface="Calibri" panose="020F0502020204030204" pitchFamily="34" charset="0"/>
              </a:rPr>
              <a:t>Structural Characteristics</a:t>
            </a:r>
          </a:p>
          <a:p>
            <a:r>
              <a:rPr lang="en-US" b="1" dirty="0">
                <a:latin typeface="Calibri" panose="020F0502020204030204" pitchFamily="34" charset="0"/>
                <a:cs typeface="Calibri" panose="020F0502020204030204" pitchFamily="34" charset="0"/>
              </a:rPr>
              <a:t>Denormalized structure:</a:t>
            </a:r>
            <a:r>
              <a:rPr lang="en-US" dirty="0">
                <a:latin typeface="Calibri" panose="020F0502020204030204" pitchFamily="34" charset="0"/>
                <a:cs typeface="Calibri" panose="020F0502020204030204" pitchFamily="34" charset="0"/>
              </a:rPr>
              <a:t> Unlike a transactional database, a star schema's dimension tables are denormalized, meaning they contain some redundant data. This reduces the number of joins needed to retrieve data, making queries faster.</a:t>
            </a:r>
          </a:p>
          <a:p>
            <a:r>
              <a:rPr lang="en-US" b="1" dirty="0">
                <a:latin typeface="Calibri" panose="020F0502020204030204" pitchFamily="34" charset="0"/>
                <a:cs typeface="Calibri" panose="020F0502020204030204" pitchFamily="34" charset="0"/>
              </a:rPr>
              <a:t>Simple, single-level relationships: </a:t>
            </a:r>
            <a:r>
              <a:rPr lang="en-US" dirty="0">
                <a:latin typeface="Calibri" panose="020F0502020204030204" pitchFamily="34" charset="0"/>
                <a:cs typeface="Calibri" panose="020F0502020204030204" pitchFamily="34" charset="0"/>
              </a:rPr>
              <a:t>The model has a simple, non-hierarchical structure. All dimension tables are connected directly to the fact table, creating simple one-to-many relationships.</a:t>
            </a:r>
          </a:p>
          <a:p>
            <a:endParaRPr lang="en-US" dirty="0"/>
          </a:p>
        </p:txBody>
      </p:sp>
      <p:pic>
        <p:nvPicPr>
          <p:cNvPr id="6" name="Picture 2" descr="Image shows an illustration of a star schema.">
            <a:extLst>
              <a:ext uri="{FF2B5EF4-FFF2-40B4-BE49-F238E27FC236}">
                <a16:creationId xmlns:a16="http://schemas.microsoft.com/office/drawing/2014/main" id="{7BF1BBE2-B326-FD94-3BC0-172C1F879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7534" y="1687285"/>
            <a:ext cx="5336931" cy="3643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003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1E7FB9-B7A5-8ACC-BDC9-A6BD1F69F51A}"/>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Dimensions (dims)</a:t>
            </a:r>
          </a:p>
        </p:txBody>
      </p:sp>
      <p:sp>
        <p:nvSpPr>
          <p:cNvPr id="4" name="Content Placeholder 3">
            <a:extLst>
              <a:ext uri="{FF2B5EF4-FFF2-40B4-BE49-F238E27FC236}">
                <a16:creationId xmlns:a16="http://schemas.microsoft.com/office/drawing/2014/main" id="{B81E57BC-886D-BA86-535A-7CEBDFE9AB80}"/>
              </a:ext>
            </a:extLst>
          </p:cNvPr>
          <p:cNvSpPr>
            <a:spLocks noGrp="1"/>
          </p:cNvSpPr>
          <p:nvPr>
            <p:ph idx="1"/>
          </p:nvPr>
        </p:nvSpPr>
        <p:spPr>
          <a:xfrm>
            <a:off x="609600" y="1178556"/>
            <a:ext cx="5330953" cy="5222243"/>
          </a:xfrm>
        </p:spPr>
        <p:txBody>
          <a:bodyPr>
            <a:normAutofit lnSpcReduction="10000"/>
          </a:bodyPr>
          <a:lstStyle/>
          <a:p>
            <a:pPr marL="0" indent="0">
              <a:buNone/>
            </a:pPr>
            <a:r>
              <a:rPr lang="en-US" sz="1400" dirty="0">
                <a:latin typeface="Calibri" panose="020F0502020204030204" pitchFamily="34" charset="0"/>
                <a:cs typeface="Calibri" panose="020F0502020204030204" pitchFamily="34" charset="0"/>
              </a:rPr>
              <a:t>Some of the most common types of dimension tables are:</a:t>
            </a:r>
          </a:p>
          <a:p>
            <a:r>
              <a:rPr lang="en-US" sz="1400" b="1" dirty="0">
                <a:latin typeface="Calibri" panose="020F0502020204030204" pitchFamily="34" charset="0"/>
                <a:cs typeface="Calibri" panose="020F0502020204030204" pitchFamily="34" charset="0"/>
              </a:rPr>
              <a:t>Calendar Date Dimension (dim date)</a:t>
            </a:r>
          </a:p>
          <a:p>
            <a:pPr marL="225425" lvl="1" indent="0">
              <a:buNone/>
            </a:pPr>
            <a:r>
              <a:rPr lang="en-US" b="0" i="0" dirty="0">
                <a:solidFill>
                  <a:srgbClr val="202122"/>
                </a:solidFill>
                <a:effectLst/>
                <a:latin typeface="Calibri" panose="020F0502020204030204" pitchFamily="34" charset="0"/>
                <a:cs typeface="Calibri" panose="020F0502020204030204" pitchFamily="34" charset="0"/>
              </a:rPr>
              <a:t>A special type of dimension that </a:t>
            </a:r>
            <a:r>
              <a:rPr lang="en-US" b="0" i="0" u="sng" dirty="0">
                <a:solidFill>
                  <a:srgbClr val="202122"/>
                </a:solidFill>
                <a:effectLst/>
                <a:latin typeface="Calibri" panose="020F0502020204030204" pitchFamily="34" charset="0"/>
                <a:cs typeface="Calibri" panose="020F0502020204030204" pitchFamily="34" charset="0"/>
              </a:rPr>
              <a:t>can be used to represent dates with a granularity of a day</a:t>
            </a:r>
            <a:r>
              <a:rPr lang="en-US" b="0" i="0" dirty="0">
                <a:solidFill>
                  <a:srgbClr val="202122"/>
                </a:solidFill>
                <a:effectLst/>
                <a:latin typeface="Calibri" panose="020F0502020204030204" pitchFamily="34" charset="0"/>
                <a:cs typeface="Calibri" panose="020F0502020204030204" pitchFamily="34" charset="0"/>
              </a:rPr>
              <a:t>. The date dimension can include other attributes like the week of the year, or flags representing work days, holidays, etc. It could also include special rows representing not known dates, or yet to be defined dates. The </a:t>
            </a:r>
            <a:r>
              <a:rPr lang="en-US" b="0" i="0" u="sng" dirty="0">
                <a:solidFill>
                  <a:srgbClr val="202122"/>
                </a:solidFill>
                <a:effectLst/>
                <a:latin typeface="Calibri" panose="020F0502020204030204" pitchFamily="34" charset="0"/>
                <a:cs typeface="Calibri" panose="020F0502020204030204" pitchFamily="34" charset="0"/>
              </a:rPr>
              <a:t>date dimension should be initialized with all the required dates</a:t>
            </a:r>
            <a:r>
              <a:rPr lang="en-US" b="0" i="0" dirty="0">
                <a:solidFill>
                  <a:srgbClr val="202122"/>
                </a:solidFill>
                <a:effectLst/>
                <a:latin typeface="Calibri" panose="020F0502020204030204" pitchFamily="34" charset="0"/>
                <a:cs typeface="Calibri" panose="020F0502020204030204" pitchFamily="34" charset="0"/>
              </a:rPr>
              <a:t>, say the next 10 years of dates, or more if required, or past dates if events in the past are handled.</a:t>
            </a:r>
          </a:p>
          <a:p>
            <a:r>
              <a:rPr lang="en-US" sz="1400" b="1" i="0" dirty="0">
                <a:solidFill>
                  <a:srgbClr val="242424"/>
                </a:solidFill>
                <a:effectLst/>
                <a:latin typeface="Calibri" panose="020F0502020204030204" pitchFamily="34" charset="0"/>
                <a:cs typeface="Calibri" panose="020F0502020204030204" pitchFamily="34" charset="0"/>
              </a:rPr>
              <a:t>Junk Dimension</a:t>
            </a:r>
          </a:p>
          <a:p>
            <a:pPr marL="225425" lvl="1" indent="0">
              <a:buNone/>
            </a:pPr>
            <a:r>
              <a:rPr lang="en-US" dirty="0">
                <a:solidFill>
                  <a:srgbClr val="242424"/>
                </a:solidFill>
                <a:latin typeface="Calibri" panose="020F0502020204030204" pitchFamily="34" charset="0"/>
                <a:cs typeface="Calibri" panose="020F0502020204030204" pitchFamily="34" charset="0"/>
              </a:rPr>
              <a:t>A junk dimension is a </a:t>
            </a:r>
            <a:r>
              <a:rPr lang="en-US" u="sng" dirty="0">
                <a:solidFill>
                  <a:srgbClr val="242424"/>
                </a:solidFill>
                <a:latin typeface="Calibri" panose="020F0502020204030204" pitchFamily="34" charset="0"/>
                <a:cs typeface="Calibri" panose="020F0502020204030204" pitchFamily="34" charset="0"/>
              </a:rPr>
              <a:t>cartesian product of every possible combination of values for a set of attributes</a:t>
            </a:r>
            <a:r>
              <a:rPr lang="en-US" dirty="0">
                <a:solidFill>
                  <a:srgbClr val="242424"/>
                </a:solidFill>
                <a:latin typeface="Calibri" panose="020F0502020204030204" pitchFamily="34" charset="0"/>
                <a:cs typeface="Calibri" panose="020F0502020204030204" pitchFamily="34" charset="0"/>
              </a:rPr>
              <a:t>. It usually consists of attributes that do not belong in the fact table or in any of the existing dimension tables.</a:t>
            </a:r>
            <a:endParaRPr lang="en-US" sz="1400" b="0" i="0" dirty="0">
              <a:solidFill>
                <a:srgbClr val="242424"/>
              </a:solidFill>
              <a:effectLst/>
              <a:latin typeface="Calibri" panose="020F0502020204030204" pitchFamily="34" charset="0"/>
              <a:cs typeface="Calibri" panose="020F0502020204030204" pitchFamily="34" charset="0"/>
            </a:endParaRPr>
          </a:p>
          <a:p>
            <a:r>
              <a:rPr lang="en-US" sz="1400" b="1" i="0" dirty="0">
                <a:solidFill>
                  <a:srgbClr val="242424"/>
                </a:solidFill>
                <a:effectLst/>
                <a:latin typeface="Calibri" panose="020F0502020204030204" pitchFamily="34" charset="0"/>
                <a:cs typeface="Calibri" panose="020F0502020204030204" pitchFamily="34" charset="0"/>
              </a:rPr>
              <a:t>Slowly Changing Dimension (SCD)</a:t>
            </a:r>
          </a:p>
          <a:p>
            <a:pPr marL="225425" lvl="1" indent="0">
              <a:buNone/>
            </a:pPr>
            <a:r>
              <a:rPr lang="en-US" b="0" i="0" dirty="0">
                <a:solidFill>
                  <a:srgbClr val="242424"/>
                </a:solidFill>
                <a:effectLst/>
                <a:latin typeface="Calibri" panose="020F0502020204030204" pitchFamily="34" charset="0"/>
                <a:cs typeface="Calibri" panose="020F0502020204030204" pitchFamily="34" charset="0"/>
              </a:rPr>
              <a:t>A slowly changing dimension is a </a:t>
            </a:r>
            <a:r>
              <a:rPr lang="en-US" b="0" i="0" u="sng" dirty="0">
                <a:solidFill>
                  <a:srgbClr val="242424"/>
                </a:solidFill>
                <a:effectLst/>
                <a:latin typeface="Calibri" panose="020F0502020204030204" pitchFamily="34" charset="0"/>
                <a:cs typeface="Calibri" panose="020F0502020204030204" pitchFamily="34" charset="0"/>
              </a:rPr>
              <a:t>set of data attributes that change slowly over a period of time rather than changing regularly </a:t>
            </a:r>
            <a:r>
              <a:rPr lang="en-US" b="0" i="0" dirty="0">
                <a:solidFill>
                  <a:srgbClr val="242424"/>
                </a:solidFill>
                <a:effectLst/>
                <a:latin typeface="Calibri" panose="020F0502020204030204" pitchFamily="34" charset="0"/>
                <a:cs typeface="Calibri" panose="020F0502020204030204" pitchFamily="34" charset="0"/>
              </a:rPr>
              <a:t>e.g. address or name. These attributes can change over a period of time and that will get combined as a slowly changing dimension.</a:t>
            </a:r>
          </a:p>
          <a:p>
            <a:pPr marL="0" indent="0">
              <a:buNone/>
            </a:pPr>
            <a:endParaRPr lang="en-US" sz="1400"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9973FF20-B69B-048D-7ADB-4083E98AF89B}"/>
              </a:ext>
              <a:ext uri="{C183D7F6-B498-43B3-948B-1728B52AA6E4}">
                <adec:decorative xmlns:adec="http://schemas.microsoft.com/office/drawing/2017/decorative" val="1"/>
              </a:ext>
            </a:extLst>
          </p:cNvPr>
          <p:cNvCxnSpPr>
            <a:cxnSpLocks/>
          </p:cNvCxnSpPr>
          <p:nvPr/>
        </p:nvCxnSpPr>
        <p:spPr>
          <a:xfrm>
            <a:off x="6354417" y="1304507"/>
            <a:ext cx="0" cy="4991104"/>
          </a:xfrm>
          <a:prstGeom prst="line">
            <a:avLst/>
          </a:prstGeom>
          <a:ln w="9525">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C2EC7A2-C42B-5929-69C9-50089CF3FF06}"/>
              </a:ext>
            </a:extLst>
          </p:cNvPr>
          <p:cNvSpPr txBox="1"/>
          <p:nvPr/>
        </p:nvSpPr>
        <p:spPr>
          <a:xfrm>
            <a:off x="6816575" y="1178557"/>
            <a:ext cx="5043436" cy="3479735"/>
          </a:xfrm>
          <a:prstGeom prst="rect">
            <a:avLst/>
          </a:prstGeom>
          <a:noFill/>
        </p:spPr>
        <p:txBody>
          <a:bodyPr wrap="square" rtlCol="0">
            <a:spAutoFit/>
          </a:bodyPr>
          <a:lstStyle/>
          <a:p>
            <a:pPr algn="l">
              <a:lnSpc>
                <a:spcPct val="110000"/>
              </a:lnSpc>
              <a:spcBef>
                <a:spcPts val="900"/>
              </a:spcBef>
            </a:pPr>
            <a:r>
              <a:rPr lang="en-US" sz="1600" dirty="0">
                <a:latin typeface="Calibri" panose="020F0502020204030204" pitchFamily="34" charset="0"/>
                <a:cs typeface="Calibri" panose="020F0502020204030204" pitchFamily="34" charset="0"/>
              </a:rPr>
              <a:t>The 3 most common types of SCDs are:</a:t>
            </a:r>
          </a:p>
          <a:p>
            <a:pPr marL="285750" indent="-285750" algn="l">
              <a:lnSpc>
                <a:spcPct val="110000"/>
              </a:lnSpc>
              <a:spcBef>
                <a:spcPts val="9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Type 0 (Retain original)</a:t>
            </a:r>
          </a:p>
          <a:p>
            <a:pPr lvl="1">
              <a:lnSpc>
                <a:spcPct val="110000"/>
              </a:lnSpc>
              <a:spcBef>
                <a:spcPts val="900"/>
              </a:spcBef>
            </a:pPr>
            <a:r>
              <a:rPr lang="en-US" sz="1600" dirty="0">
                <a:latin typeface="Calibri" panose="020F0502020204030204" pitchFamily="34" charset="0"/>
                <a:cs typeface="Calibri" panose="020F0502020204030204" pitchFamily="34" charset="0"/>
              </a:rPr>
              <a:t>No history is saved. Data remains static</a:t>
            </a:r>
          </a:p>
          <a:p>
            <a:pPr marL="285750" indent="-285750" algn="l">
              <a:lnSpc>
                <a:spcPct val="110000"/>
              </a:lnSpc>
              <a:spcBef>
                <a:spcPts val="9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Type 1 (Overwrite)</a:t>
            </a:r>
          </a:p>
          <a:p>
            <a:pPr lvl="1">
              <a:lnSpc>
                <a:spcPct val="110000"/>
              </a:lnSpc>
              <a:spcBef>
                <a:spcPts val="900"/>
              </a:spcBef>
            </a:pPr>
            <a:r>
              <a:rPr lang="en-US" sz="1600" dirty="0">
                <a:latin typeface="Calibri" panose="020F0502020204030204" pitchFamily="34" charset="0"/>
                <a:cs typeface="Calibri" panose="020F0502020204030204" pitchFamily="34" charset="0"/>
              </a:rPr>
              <a:t>Old values are overwritten with new values. No historical data is saved.</a:t>
            </a:r>
          </a:p>
          <a:p>
            <a:pPr marL="285750" indent="-285750" algn="l">
              <a:lnSpc>
                <a:spcPct val="110000"/>
              </a:lnSpc>
              <a:spcBef>
                <a:spcPts val="9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Type 2 (Add new row)</a:t>
            </a:r>
          </a:p>
          <a:p>
            <a:pPr lvl="1">
              <a:lnSpc>
                <a:spcPct val="110000"/>
              </a:lnSpc>
              <a:spcBef>
                <a:spcPts val="900"/>
              </a:spcBef>
            </a:pPr>
            <a:r>
              <a:rPr lang="en-US" sz="1600" dirty="0">
                <a:latin typeface="Calibri" panose="020F0502020204030204" pitchFamily="34" charset="0"/>
                <a:cs typeface="Calibri" panose="020F0502020204030204" pitchFamily="34" charset="0"/>
              </a:rPr>
              <a:t>A new row is created with either a start date / end date or a version for a new value. This creates history.</a:t>
            </a:r>
          </a:p>
        </p:txBody>
      </p:sp>
      <p:pic>
        <p:nvPicPr>
          <p:cNvPr id="6150" name="Picture 6" descr="Dimension - Wikipedia">
            <a:extLst>
              <a:ext uri="{FF2B5EF4-FFF2-40B4-BE49-F238E27FC236}">
                <a16:creationId xmlns:a16="http://schemas.microsoft.com/office/drawing/2014/main" id="{8A35854E-D36E-8559-A865-3C6833CD2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9640" y="4701452"/>
            <a:ext cx="4879692" cy="1594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177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E87B5-7939-6AA0-A2E1-28F8088E3127}"/>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Dimension Example: </a:t>
            </a:r>
            <a:r>
              <a:rPr lang="en-US" dirty="0" err="1">
                <a:latin typeface="Calibri" panose="020F0502020204030204" pitchFamily="34" charset="0"/>
                <a:cs typeface="Calibri" panose="020F0502020204030204" pitchFamily="34" charset="0"/>
              </a:rPr>
              <a:t>dim_date</a:t>
            </a:r>
            <a:endParaRPr lang="en-US"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3EB96D47-BDE4-3AB0-8DA0-157E1D63EAFB}"/>
              </a:ext>
            </a:extLst>
          </p:cNvPr>
          <p:cNvPicPr>
            <a:picLocks noChangeAspect="1"/>
          </p:cNvPicPr>
          <p:nvPr/>
        </p:nvPicPr>
        <p:blipFill>
          <a:blip r:embed="rId2"/>
          <a:stretch>
            <a:fillRect/>
          </a:stretch>
        </p:blipFill>
        <p:spPr>
          <a:xfrm>
            <a:off x="107090" y="2044065"/>
            <a:ext cx="11977820" cy="2769870"/>
          </a:xfrm>
          <a:prstGeom prst="rect">
            <a:avLst/>
          </a:prstGeom>
        </p:spPr>
      </p:pic>
    </p:spTree>
    <p:extLst>
      <p:ext uri="{BB962C8B-B14F-4D97-AF65-F5344CB8AC3E}">
        <p14:creationId xmlns:p14="http://schemas.microsoft.com/office/powerpoint/2010/main" val="1125549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049C1-F442-DE95-1FB4-C363C7D09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5ACF7-8513-C1B9-12AE-4FE9665D3D8C}"/>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Dimension Example: Junk Dimension (</a:t>
            </a:r>
            <a:r>
              <a:rPr lang="en-US" dirty="0" err="1">
                <a:latin typeface="Calibri" panose="020F0502020204030204" pitchFamily="34" charset="0"/>
                <a:cs typeface="Calibri" panose="020F0502020204030204" pitchFamily="34" charset="0"/>
              </a:rPr>
              <a:t>dim_order</a:t>
            </a:r>
            <a:r>
              <a:rPr lang="en-US" dirty="0">
                <a:latin typeface="Calibri" panose="020F0502020204030204" pitchFamily="34" charset="0"/>
                <a:cs typeface="Calibri" panose="020F0502020204030204" pitchFamily="34" charset="0"/>
              </a:rPr>
              <a:t>)</a:t>
            </a:r>
          </a:p>
        </p:txBody>
      </p:sp>
      <p:pic>
        <p:nvPicPr>
          <p:cNvPr id="4098" name="Picture 2" descr="Datawarehouse - Junk Dimension">
            <a:extLst>
              <a:ext uri="{FF2B5EF4-FFF2-40B4-BE49-F238E27FC236}">
                <a16:creationId xmlns:a16="http://schemas.microsoft.com/office/drawing/2014/main" id="{8164EFCA-C662-807B-FF53-7D331A6EF5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548" t="20358" r="16452" b="16272"/>
          <a:stretch>
            <a:fillRect/>
          </a:stretch>
        </p:blipFill>
        <p:spPr bwMode="auto">
          <a:xfrm>
            <a:off x="1828799" y="1494502"/>
            <a:ext cx="8534401" cy="4345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58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BBD4B-7B24-96B9-A11A-19AA75703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CFAC4-44D0-DA00-EE70-FE55DBB85E4F}"/>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Dimension Example: SCD (type 2)</a:t>
            </a:r>
          </a:p>
        </p:txBody>
      </p:sp>
      <p:pic>
        <p:nvPicPr>
          <p:cNvPr id="6146" name="Picture 2" descr="Understanding Slowly Changing Dimensions">
            <a:extLst>
              <a:ext uri="{FF2B5EF4-FFF2-40B4-BE49-F238E27FC236}">
                <a16:creationId xmlns:a16="http://schemas.microsoft.com/office/drawing/2014/main" id="{2DA55E57-EB5C-F01D-1C71-94EDAA02E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1506384"/>
            <a:ext cx="10477500" cy="414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980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1E7FB9-B7A5-8ACC-BDC9-A6BD1F69F51A}"/>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Facts</a:t>
            </a:r>
          </a:p>
        </p:txBody>
      </p:sp>
      <p:sp>
        <p:nvSpPr>
          <p:cNvPr id="4" name="Content Placeholder 3">
            <a:extLst>
              <a:ext uri="{FF2B5EF4-FFF2-40B4-BE49-F238E27FC236}">
                <a16:creationId xmlns:a16="http://schemas.microsoft.com/office/drawing/2014/main" id="{B81E57BC-886D-BA86-535A-7CEBDFE9AB80}"/>
              </a:ext>
            </a:extLst>
          </p:cNvPr>
          <p:cNvSpPr>
            <a:spLocks noGrp="1"/>
          </p:cNvSpPr>
          <p:nvPr>
            <p:ph idx="1"/>
          </p:nvPr>
        </p:nvSpPr>
        <p:spPr>
          <a:xfrm>
            <a:off x="516313" y="1208954"/>
            <a:ext cx="4883692" cy="4992624"/>
          </a:xfrm>
        </p:spPr>
        <p:txBody>
          <a:bodyPr>
            <a:normAutofit lnSpcReduction="10000"/>
          </a:bodyPr>
          <a:lstStyle/>
          <a:p>
            <a:pPr marL="0" indent="0">
              <a:buNone/>
            </a:pPr>
            <a:r>
              <a:rPr lang="en-US" dirty="0">
                <a:latin typeface="Calibri" panose="020F0502020204030204" pitchFamily="34" charset="0"/>
                <a:cs typeface="Calibri" panose="020F0502020204030204" pitchFamily="34" charset="0"/>
              </a:rPr>
              <a:t>The 3 most common types of fact tables are:</a:t>
            </a:r>
          </a:p>
          <a:p>
            <a:r>
              <a:rPr lang="en-US" dirty="0">
                <a:latin typeface="Calibri" panose="020F0502020204030204" pitchFamily="34" charset="0"/>
                <a:cs typeface="Calibri" panose="020F0502020204030204" pitchFamily="34" charset="0"/>
              </a:rPr>
              <a:t>Transactional</a:t>
            </a:r>
          </a:p>
          <a:p>
            <a:pPr marL="225425" lvl="1" indent="0">
              <a:buNone/>
            </a:pPr>
            <a:r>
              <a:rPr lang="en-US" sz="1600" dirty="0">
                <a:latin typeface="Calibri" panose="020F0502020204030204" pitchFamily="34" charset="0"/>
                <a:cs typeface="Calibri" panose="020F0502020204030204" pitchFamily="34" charset="0"/>
              </a:rPr>
              <a:t>The most basic type of fact table, which </a:t>
            </a:r>
            <a:r>
              <a:rPr lang="en-US" sz="1600" u="sng" dirty="0">
                <a:latin typeface="Calibri" panose="020F0502020204030204" pitchFamily="34" charset="0"/>
                <a:cs typeface="Calibri" panose="020F0502020204030204" pitchFamily="34" charset="0"/>
              </a:rPr>
              <a:t>records individual events</a:t>
            </a:r>
            <a:r>
              <a:rPr lang="en-US" sz="1600" dirty="0">
                <a:latin typeface="Calibri" panose="020F0502020204030204" pitchFamily="34" charset="0"/>
                <a:cs typeface="Calibri" panose="020F0502020204030204" pitchFamily="34" charset="0"/>
              </a:rPr>
              <a:t> such as sales transactions or website clicks.</a:t>
            </a:r>
          </a:p>
          <a:p>
            <a:r>
              <a:rPr lang="en-US" dirty="0">
                <a:latin typeface="Calibri" panose="020F0502020204030204" pitchFamily="34" charset="0"/>
                <a:cs typeface="Calibri" panose="020F0502020204030204" pitchFamily="34" charset="0"/>
              </a:rPr>
              <a:t>Periodic Snapshot</a:t>
            </a:r>
          </a:p>
          <a:p>
            <a:pPr marL="225425" lvl="1" indent="0">
              <a:buNone/>
            </a:pPr>
            <a:r>
              <a:rPr lang="en-US" sz="1600" u="sng" dirty="0">
                <a:latin typeface="Calibri" panose="020F0502020204030204" pitchFamily="34" charset="0"/>
                <a:cs typeface="Calibri" panose="020F0502020204030204" pitchFamily="34" charset="0"/>
              </a:rPr>
              <a:t>Captures the status of a process at regular intervals</a:t>
            </a:r>
            <a:r>
              <a:rPr lang="en-US" sz="1600" dirty="0">
                <a:latin typeface="Calibri" panose="020F0502020204030204" pitchFamily="34" charset="0"/>
                <a:cs typeface="Calibri" panose="020F0502020204030204" pitchFamily="34" charset="0"/>
              </a:rPr>
              <a:t>, such as daily or monthly sales totals. For example, a daily snapshot of inventory levels for each product in a warehouse.</a:t>
            </a:r>
          </a:p>
          <a:p>
            <a:r>
              <a:rPr lang="en-US" dirty="0">
                <a:latin typeface="Calibri" panose="020F0502020204030204" pitchFamily="34" charset="0"/>
                <a:cs typeface="Calibri" panose="020F0502020204030204" pitchFamily="34" charset="0"/>
              </a:rPr>
              <a:t>Accumulating Snapshot</a:t>
            </a:r>
          </a:p>
          <a:p>
            <a:pPr marL="225425" lvl="1" indent="0">
              <a:buNone/>
            </a:pPr>
            <a:r>
              <a:rPr lang="en-US" sz="1600" u="sng" dirty="0">
                <a:latin typeface="Calibri" panose="020F0502020204030204" pitchFamily="34" charset="0"/>
                <a:cs typeface="Calibri" panose="020F0502020204030204" pitchFamily="34" charset="0"/>
              </a:rPr>
              <a:t>Shows the progression of a process over time</a:t>
            </a:r>
            <a:r>
              <a:rPr lang="en-US" sz="1600" dirty="0">
                <a:latin typeface="Calibri" panose="020F0502020204030204" pitchFamily="34" charset="0"/>
                <a:cs typeface="Calibri" panose="020F0502020204030204" pitchFamily="34" charset="0"/>
              </a:rPr>
              <a:t>, such as the stages of an order fulfillment process. For example, an order processing accumulating snapshot records are revisited and overwritten as the process progresses.	</a:t>
            </a:r>
          </a:p>
        </p:txBody>
      </p:sp>
      <p:cxnSp>
        <p:nvCxnSpPr>
          <p:cNvPr id="5" name="Straight Connector 4">
            <a:extLst>
              <a:ext uri="{FF2B5EF4-FFF2-40B4-BE49-F238E27FC236}">
                <a16:creationId xmlns:a16="http://schemas.microsoft.com/office/drawing/2014/main" id="{9973FF20-B69B-048D-7ADB-4083E98AF89B}"/>
              </a:ext>
              <a:ext uri="{C183D7F6-B498-43B3-948B-1728B52AA6E4}">
                <adec:decorative xmlns:adec="http://schemas.microsoft.com/office/drawing/2017/decorative" val="1"/>
              </a:ext>
            </a:extLst>
          </p:cNvPr>
          <p:cNvCxnSpPr>
            <a:cxnSpLocks/>
          </p:cNvCxnSpPr>
          <p:nvPr/>
        </p:nvCxnSpPr>
        <p:spPr>
          <a:xfrm>
            <a:off x="5663493" y="1210474"/>
            <a:ext cx="0" cy="4991104"/>
          </a:xfrm>
          <a:prstGeom prst="line">
            <a:avLst/>
          </a:prstGeom>
          <a:ln w="9525">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3074" name="Picture 2" descr="Facts - Environmental Management Facts">
            <a:extLst>
              <a:ext uri="{FF2B5EF4-FFF2-40B4-BE49-F238E27FC236}">
                <a16:creationId xmlns:a16="http://schemas.microsoft.com/office/drawing/2014/main" id="{ED47E193-2DFF-891F-C42C-1698FCFF13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7544" y="550942"/>
            <a:ext cx="3314282" cy="2623731"/>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Self Taught Reviews: The Data Warehouse Toolkit by Ralph Kimball and Margy  Ross | by Sergio Ramos | Medium">
            <a:extLst>
              <a:ext uri="{FF2B5EF4-FFF2-40B4-BE49-F238E27FC236}">
                <a16:creationId xmlns:a16="http://schemas.microsoft.com/office/drawing/2014/main" id="{A037418F-1AF8-4781-F930-61C2C206DF9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4168" r="3733" b="7280"/>
          <a:stretch>
            <a:fillRect/>
          </a:stretch>
        </p:blipFill>
        <p:spPr bwMode="auto">
          <a:xfrm>
            <a:off x="5926982" y="3577847"/>
            <a:ext cx="6215406" cy="2623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020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FC4A6-E939-9B1C-5132-285DEC16008A}"/>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Fact Example: Transactional</a:t>
            </a:r>
          </a:p>
        </p:txBody>
      </p:sp>
      <p:sp>
        <p:nvSpPr>
          <p:cNvPr id="3" name="TextBox 2">
            <a:extLst>
              <a:ext uri="{FF2B5EF4-FFF2-40B4-BE49-F238E27FC236}">
                <a16:creationId xmlns:a16="http://schemas.microsoft.com/office/drawing/2014/main" id="{413B3797-1DAF-1030-BB0D-ACB8BF1339C5}"/>
              </a:ext>
            </a:extLst>
          </p:cNvPr>
          <p:cNvSpPr txBox="1"/>
          <p:nvPr/>
        </p:nvSpPr>
        <p:spPr>
          <a:xfrm>
            <a:off x="609600" y="1210474"/>
            <a:ext cx="5109476" cy="923330"/>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Grain: one row per transaction or transaction line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Tend to be unpredictably and sparsely populated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Can be very large (billion/trillion+ rows)</a:t>
            </a:r>
          </a:p>
        </p:txBody>
      </p:sp>
      <p:pic>
        <p:nvPicPr>
          <p:cNvPr id="8198" name="Picture 6" descr="BOOK REVIEW] The Data Warehouse Toolkit by Ralph Kimball/Retail Case Study  | by Hang Nguyen | Medium">
            <a:extLst>
              <a:ext uri="{FF2B5EF4-FFF2-40B4-BE49-F238E27FC236}">
                <a16:creationId xmlns:a16="http://schemas.microsoft.com/office/drawing/2014/main" id="{B30241ED-DCA1-2FCB-B989-FB8C91649A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8504" y="2133804"/>
            <a:ext cx="8583561" cy="4434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068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D012B-A296-9E49-5DB9-5552D843E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ABC08-FA79-0BCA-B74F-57367F2FFB1A}"/>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Fact Example: Periodic Snapshot</a:t>
            </a:r>
          </a:p>
        </p:txBody>
      </p:sp>
      <p:pic>
        <p:nvPicPr>
          <p:cNvPr id="10242" name="Picture 2" descr="Multidimensional Modeling - Inventory">
            <a:extLst>
              <a:ext uri="{FF2B5EF4-FFF2-40B4-BE49-F238E27FC236}">
                <a16:creationId xmlns:a16="http://schemas.microsoft.com/office/drawing/2014/main" id="{7EDF20C1-C164-7417-63AB-B4440D8AF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6393" y="3429000"/>
            <a:ext cx="7807813" cy="194760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A489383-CC40-DDE6-AFF9-91EACB7507AD}"/>
              </a:ext>
            </a:extLst>
          </p:cNvPr>
          <p:cNvSpPr txBox="1"/>
          <p:nvPr/>
        </p:nvSpPr>
        <p:spPr>
          <a:xfrm>
            <a:off x="1317523" y="1592826"/>
            <a:ext cx="9681561" cy="923330"/>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Grain: the period of time, not the individual transaction.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One row summarizes many measurement events occurring over a standard period (day, week, </a:t>
            </a:r>
            <a:r>
              <a:rPr lang="en-US" dirty="0" err="1">
                <a:latin typeface="Calibri" panose="020F0502020204030204" pitchFamily="34" charset="0"/>
                <a:cs typeface="Calibri" panose="020F0502020204030204" pitchFamily="34" charset="0"/>
              </a:rPr>
              <a:t>etc</a:t>
            </a:r>
            <a:r>
              <a:rPr lang="en-US"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 row is inserted even if no activity takes place during the event (containing 0 or null)</a:t>
            </a:r>
          </a:p>
        </p:txBody>
      </p:sp>
    </p:spTree>
    <p:extLst>
      <p:ext uri="{BB962C8B-B14F-4D97-AF65-F5344CB8AC3E}">
        <p14:creationId xmlns:p14="http://schemas.microsoft.com/office/powerpoint/2010/main" val="3475211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0DFD-6F0A-85C9-36C2-48FD1D3DA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139FD-0F06-DBFB-BF38-B9853879EC4C}"/>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Fact Example: Accumulating Snapshot</a:t>
            </a:r>
          </a:p>
        </p:txBody>
      </p:sp>
      <p:pic>
        <p:nvPicPr>
          <p:cNvPr id="9218" name="Picture 2" descr="The Three Types of Fact Tables">
            <a:extLst>
              <a:ext uri="{FF2B5EF4-FFF2-40B4-BE49-F238E27FC236}">
                <a16:creationId xmlns:a16="http://schemas.microsoft.com/office/drawing/2014/main" id="{46601A89-FF10-9D29-544E-3AF17203B9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00" r="3146" b="8243"/>
          <a:stretch>
            <a:fillRect/>
          </a:stretch>
        </p:blipFill>
        <p:spPr bwMode="auto">
          <a:xfrm>
            <a:off x="4798142" y="1012723"/>
            <a:ext cx="7242210" cy="56732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42B81BD-D5F0-A5EA-61D5-2F38F13AA3A5}"/>
              </a:ext>
            </a:extLst>
          </p:cNvPr>
          <p:cNvSpPr txBox="1"/>
          <p:nvPr/>
        </p:nvSpPr>
        <p:spPr>
          <a:xfrm>
            <a:off x="501445" y="1376516"/>
            <a:ext cx="3687097"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Grain: order or order line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 row summarizes the measurement events occurring at predictable steps between the beginning and end of a process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As the pipeline progresses the fact table row is updated and revised</a:t>
            </a:r>
          </a:p>
        </p:txBody>
      </p:sp>
    </p:spTree>
    <p:extLst>
      <p:ext uri="{BB962C8B-B14F-4D97-AF65-F5344CB8AC3E}">
        <p14:creationId xmlns:p14="http://schemas.microsoft.com/office/powerpoint/2010/main" val="1419952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82AB5-F756-57D5-5176-19B8C2BBDA3A}"/>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Star Schema vs Snowflake Schema</a:t>
            </a:r>
          </a:p>
        </p:txBody>
      </p:sp>
      <p:sp>
        <p:nvSpPr>
          <p:cNvPr id="3" name="Content Placeholder 2">
            <a:extLst>
              <a:ext uri="{FF2B5EF4-FFF2-40B4-BE49-F238E27FC236}">
                <a16:creationId xmlns:a16="http://schemas.microsoft.com/office/drawing/2014/main" id="{D06A0295-2233-8084-700F-22AE968B8862}"/>
              </a:ext>
            </a:extLst>
          </p:cNvPr>
          <p:cNvSpPr>
            <a:spLocks noGrp="1"/>
          </p:cNvSpPr>
          <p:nvPr>
            <p:ph idx="1"/>
          </p:nvPr>
        </p:nvSpPr>
        <p:spPr>
          <a:xfrm>
            <a:off x="166334" y="1318819"/>
            <a:ext cx="3200400" cy="4992624"/>
          </a:xfrm>
        </p:spPr>
        <p:txBody>
          <a:bodyPr/>
          <a:lstStyle/>
          <a:p>
            <a:r>
              <a:rPr lang="en-US" dirty="0">
                <a:latin typeface="Calibri" panose="020F0502020204030204" pitchFamily="34" charset="0"/>
                <a:cs typeface="Calibri" panose="020F0502020204030204" pitchFamily="34" charset="0"/>
              </a:rPr>
              <a:t>A </a:t>
            </a:r>
            <a:r>
              <a:rPr lang="en-US" b="1" dirty="0">
                <a:latin typeface="Calibri" panose="020F0502020204030204" pitchFamily="34" charset="0"/>
                <a:cs typeface="Calibri" panose="020F0502020204030204" pitchFamily="34" charset="0"/>
              </a:rPr>
              <a:t>snowflake schema </a:t>
            </a:r>
            <a:r>
              <a:rPr lang="en-US" dirty="0">
                <a:latin typeface="Calibri" panose="020F0502020204030204" pitchFamily="34" charset="0"/>
                <a:cs typeface="Calibri" panose="020F0502020204030204" pitchFamily="34" charset="0"/>
              </a:rPr>
              <a:t>is an extension of the star schema that normalizes dimension tables into more detailed, smaller tables, resembling a "snowflake". This normalization reduces storage needs, improves data integrity, and is better for complex data, but it requires more joins, which slows down queries. </a:t>
            </a:r>
          </a:p>
          <a:p>
            <a:r>
              <a:rPr lang="en-US" dirty="0">
                <a:latin typeface="Calibri" panose="020F0502020204030204" pitchFamily="34" charset="0"/>
                <a:cs typeface="Calibri" panose="020F0502020204030204" pitchFamily="34" charset="0"/>
              </a:rPr>
              <a:t>Use snowflake schema for managing large, complex datasets where data accuracy, storage efficiency, and adaptability to complex analytical needs are more important than query speed. </a:t>
            </a:r>
          </a:p>
        </p:txBody>
      </p:sp>
      <p:sp>
        <p:nvSpPr>
          <p:cNvPr id="4" name="Content Placeholder 3">
            <a:extLst>
              <a:ext uri="{FF2B5EF4-FFF2-40B4-BE49-F238E27FC236}">
                <a16:creationId xmlns:a16="http://schemas.microsoft.com/office/drawing/2014/main" id="{F4EE454D-BE1B-44F4-CF7C-E3982A019B56}"/>
              </a:ext>
            </a:extLst>
          </p:cNvPr>
          <p:cNvSpPr>
            <a:spLocks noGrp="1"/>
          </p:cNvSpPr>
          <p:nvPr>
            <p:ph idx="13"/>
          </p:nvPr>
        </p:nvSpPr>
        <p:spPr>
          <a:xfrm>
            <a:off x="3366734" y="5574065"/>
            <a:ext cx="8658932" cy="1128195"/>
          </a:xfrm>
        </p:spPr>
        <p:txBody>
          <a:bodyPr>
            <a:normAutofit/>
          </a:bodyPr>
          <a:lstStyle/>
          <a:p>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Note</a:t>
            </a:r>
            <a:r>
              <a:rPr lang="en-US" dirty="0">
                <a:latin typeface="Calibri" panose="020F0502020204030204" pitchFamily="34" charset="0"/>
                <a:cs typeface="Calibri" panose="020F0502020204030204" pitchFamily="34" charset="0"/>
              </a:rPr>
              <a:t>: Kimball recommends avoiding snowflakes because it is difficult for business users to understand and navigate snowﬂakes. They can also negatively impact query performance. A ﬂattened denormalized dimension table contains the exact same information as a </a:t>
            </a:r>
            <a:r>
              <a:rPr lang="en-US" dirty="0" err="1">
                <a:latin typeface="Calibri" panose="020F0502020204030204" pitchFamily="34" charset="0"/>
                <a:cs typeface="Calibri" panose="020F0502020204030204" pitchFamily="34" charset="0"/>
              </a:rPr>
              <a:t>snowﬂaked</a:t>
            </a:r>
            <a:r>
              <a:rPr lang="en-US" dirty="0">
                <a:latin typeface="Calibri" panose="020F0502020204030204" pitchFamily="34" charset="0"/>
                <a:cs typeface="Calibri" panose="020F0502020204030204" pitchFamily="34" charset="0"/>
              </a:rPr>
              <a:t> dimension.</a:t>
            </a:r>
          </a:p>
        </p:txBody>
      </p:sp>
      <p:pic>
        <p:nvPicPr>
          <p:cNvPr id="4098" name="Picture 2" descr="Star Schema vs Snowflake Schema and the 7 Critical Differences">
            <a:extLst>
              <a:ext uri="{FF2B5EF4-FFF2-40B4-BE49-F238E27FC236}">
                <a16:creationId xmlns:a16="http://schemas.microsoft.com/office/drawing/2014/main" id="{267573C4-74F1-F4D7-83E8-6B0EA62073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3992" y="1166532"/>
            <a:ext cx="7144415" cy="4299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845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39532-3A31-FB01-3ECB-D04F87A6C62F}"/>
              </a:ext>
            </a:extLst>
          </p:cNvPr>
          <p:cNvSpPr>
            <a:spLocks noGrp="1"/>
          </p:cNvSpPr>
          <p:nvPr>
            <p:ph type="title"/>
          </p:nvPr>
        </p:nvSpPr>
        <p:spPr>
          <a:xfrm>
            <a:off x="5024486" y="1791228"/>
            <a:ext cx="2143027" cy="946389"/>
          </a:xfrm>
        </p:spPr>
        <p:txBody>
          <a:bodyPr>
            <a:normAutofit fontScale="90000"/>
          </a:bodyPr>
          <a:lstStyle/>
          <a:p>
            <a:pPr algn="ctr"/>
            <a:r>
              <a:rPr lang="en-US" dirty="0">
                <a:latin typeface="Calibri" panose="020F0502020204030204" pitchFamily="34" charset="0"/>
                <a:cs typeface="Calibri" panose="020F0502020204030204" pitchFamily="34" charset="0"/>
              </a:rPr>
              <a:t>Questions?</a:t>
            </a:r>
          </a:p>
        </p:txBody>
      </p:sp>
      <p:pic>
        <p:nvPicPr>
          <p:cNvPr id="9220" name="Picture 4" descr="Question Mark PNGs for Free Download">
            <a:extLst>
              <a:ext uri="{FF2B5EF4-FFF2-40B4-BE49-F238E27FC236}">
                <a16:creationId xmlns:a16="http://schemas.microsoft.com/office/drawing/2014/main" id="{20AE1C67-F5F6-DE4D-99C4-355FA53481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000" y="2850384"/>
            <a:ext cx="2540000" cy="254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2E0FF33-6509-03F8-1A22-C55B21191A73}"/>
              </a:ext>
            </a:extLst>
          </p:cNvPr>
          <p:cNvSpPr txBox="1"/>
          <p:nvPr/>
        </p:nvSpPr>
        <p:spPr>
          <a:xfrm>
            <a:off x="7409729" y="5947119"/>
            <a:ext cx="2821991"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4"/>
              </a:rPr>
              <a:t>The Data Warehouse Toolkit</a:t>
            </a:r>
            <a:endParaRPr lang="en-US"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50D294EB-6F1F-2648-BEAB-AD57A2D30169}"/>
              </a:ext>
            </a:extLst>
          </p:cNvPr>
          <p:cNvPicPr>
            <a:picLocks noChangeAspect="1"/>
          </p:cNvPicPr>
          <p:nvPr/>
        </p:nvPicPr>
        <p:blipFill>
          <a:blip r:embed="rId5"/>
          <a:stretch>
            <a:fillRect/>
          </a:stretch>
        </p:blipFill>
        <p:spPr>
          <a:xfrm>
            <a:off x="10439400" y="4728042"/>
            <a:ext cx="1329433" cy="1645965"/>
          </a:xfrm>
          <a:prstGeom prst="rect">
            <a:avLst/>
          </a:prstGeom>
        </p:spPr>
      </p:pic>
      <p:sp>
        <p:nvSpPr>
          <p:cNvPr id="5" name="TextBox 4">
            <a:extLst>
              <a:ext uri="{FF2B5EF4-FFF2-40B4-BE49-F238E27FC236}">
                <a16:creationId xmlns:a16="http://schemas.microsoft.com/office/drawing/2014/main" id="{6C1B000A-41A0-73CF-AD9A-56CA35011CAB}"/>
              </a:ext>
            </a:extLst>
          </p:cNvPr>
          <p:cNvSpPr txBox="1"/>
          <p:nvPr/>
        </p:nvSpPr>
        <p:spPr>
          <a:xfrm>
            <a:off x="2149466" y="5947119"/>
            <a:ext cx="5353068"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For more information on the Kimball methodology see:</a:t>
            </a:r>
          </a:p>
        </p:txBody>
      </p:sp>
    </p:spTree>
    <p:extLst>
      <p:ext uri="{BB962C8B-B14F-4D97-AF65-F5344CB8AC3E}">
        <p14:creationId xmlns:p14="http://schemas.microsoft.com/office/powerpoint/2010/main" val="747561125"/>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30182</TotalTime>
  <Words>1864</Words>
  <Application>Microsoft Macintosh PowerPoint</Application>
  <PresentationFormat>Widescreen</PresentationFormat>
  <Paragraphs>155</Paragraphs>
  <Slides>17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Arial</vt:lpstr>
      <vt:lpstr>Calibri</vt:lpstr>
      <vt:lpstr>Calibri Light</vt:lpstr>
      <vt:lpstr>Google Sans</vt:lpstr>
      <vt:lpstr>Rockwell</vt:lpstr>
      <vt:lpstr>source-serif-pro</vt:lpstr>
      <vt:lpstr>Wingdings</vt:lpstr>
      <vt:lpstr>Atlas</vt:lpstr>
      <vt:lpstr>Star Schemas</vt:lpstr>
      <vt:lpstr>Background: OLTP vs OLAP</vt:lpstr>
      <vt:lpstr>Background: Normalization</vt:lpstr>
      <vt:lpstr>Background: Popular Data Modeling Approaches</vt:lpstr>
      <vt:lpstr>Why Kimball?</vt:lpstr>
      <vt:lpstr>What is a Star Schema?</vt:lpstr>
      <vt:lpstr>Star Schema Characteristics</vt:lpstr>
      <vt:lpstr>Dimensions (dims)</vt:lpstr>
      <vt:lpstr>Dimension Example: dim_date</vt:lpstr>
      <vt:lpstr>Dimension Example: Junk Dimension (dim_order)</vt:lpstr>
      <vt:lpstr>Dimension Example: SCD (type 2)</vt:lpstr>
      <vt:lpstr>Facts</vt:lpstr>
      <vt:lpstr>Fact Example: Transactional</vt:lpstr>
      <vt:lpstr>Fact Example: Periodic Snapshot</vt:lpstr>
      <vt:lpstr>Fact Example: Accumulating Snapshot</vt:lpstr>
      <vt:lpstr>Star Schema vs Snowflake Schema</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 Welsh</dc:creator>
  <cp:lastModifiedBy>Mary Petersen</cp:lastModifiedBy>
  <cp:revision>24</cp:revision>
  <dcterms:created xsi:type="dcterms:W3CDTF">2025-02-17T18:02:21Z</dcterms:created>
  <dcterms:modified xsi:type="dcterms:W3CDTF">2025-10-16T04:10:51Z</dcterms:modified>
</cp:coreProperties>
</file>